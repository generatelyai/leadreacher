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ADREACHER_LIGHT">
    <p:bg>
      <p:bgPr>
        <a:solidFill>
          <a:srgbClr val="FCF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228600" cy="1463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85899A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228600" cy="1463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85899A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image" Target="../media/image-1-3.png"/><Relationship Id="rId4" Type="http://schemas.openxmlformats.org/officeDocument/2006/relationships/image" Target="../media/image-1-4.svg"/><Relationship Id="rId5" Type="http://schemas.openxmlformats.org/officeDocument/2006/relationships/image" Target="../media/image-1-5.png"/><Relationship Id="rId6" Type="http://schemas.openxmlformats.org/officeDocument/2006/relationships/image" Target="../media/image-1-6.sv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82880"/>
            <a:ext cx="11676888" cy="512064"/>
          </a:xfrm>
          <a:prstGeom prst="roundRect">
            <a:avLst>
              <a:gd name="adj" fmla="val 21429"/>
            </a:avLst>
          </a:prstGeom>
          <a:solidFill>
            <a:srgbClr val="FFFFFF">
              <a:alpha val="97000"/>
            </a:srgbClr>
          </a:solidFill>
          <a:ln w="8890">
            <a:solidFill>
              <a:srgbClr val="E6E2F2"/>
            </a:solidFill>
            <a:prstDash val="solid"/>
          </a:ln>
          <a:effectLst>
            <a:outerShdw sx="100000" sy="100000" kx="0" ky="0" algn="bl" rotWithShape="0" blurRad="25400" dist="50800" dir="2700000">
              <a:srgbClr val="CFC7E8">
                <a:alpha val="16000"/>
              </a:srgbClr>
            </a:outerShdw>
          </a:effectLst>
        </p:spPr>
      </p:sp>
      <p:pic>
        <p:nvPicPr>
          <p:cNvPr id="3" name="Image 0" descr="/Users/nicol/Desktop/PROJECTS/leadreacher/apps/web/public/logo/leadreacher_logo_colored_transparent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5488" y="310896"/>
            <a:ext cx="2240280" cy="19202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464040" y="338328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170" kern="0" dirty="0">
                <a:solidFill>
                  <a:srgbClr val="5A32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STATFLO PARTNERSHIP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676656" y="1298448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A32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LEADREACHER + STATFLO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58368" y="1664208"/>
            <a:ext cx="5715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300" b="1" dirty="0">
                <a:solidFill>
                  <a:srgbClr val="101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Qualified outreach</a:t>
            </a:r>
            <a:endParaRPr lang="en-US" sz="4300" dirty="0"/>
          </a:p>
        </p:txBody>
      </p:sp>
      <p:sp>
        <p:nvSpPr>
          <p:cNvPr id="7" name="Text 4"/>
          <p:cNvSpPr/>
          <p:nvPr/>
        </p:nvSpPr>
        <p:spPr>
          <a:xfrm>
            <a:off x="658368" y="2286000"/>
            <a:ext cx="5715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300" b="1" dirty="0">
                <a:solidFill>
                  <a:srgbClr val="5A32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integration</a:t>
            </a:r>
            <a:endParaRPr lang="en-US" sz="4300" dirty="0"/>
          </a:p>
        </p:txBody>
      </p:sp>
      <p:sp>
        <p:nvSpPr>
          <p:cNvPr id="8" name="Text 5"/>
          <p:cNvSpPr/>
          <p:nvPr/>
        </p:nvSpPr>
        <p:spPr>
          <a:xfrm>
            <a:off x="694944" y="3218688"/>
            <a:ext cx="4892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64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approved Statflo audiences into personalized, reviewable outreach at scale.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694944" y="4224528"/>
            <a:ext cx="1243584" cy="329184"/>
          </a:xfrm>
          <a:prstGeom prst="roundRect">
            <a:avLst>
              <a:gd name="adj" fmla="val 22222"/>
            </a:avLst>
          </a:prstGeom>
          <a:solidFill>
            <a:srgbClr val="F7F5FF"/>
          </a:solidFill>
          <a:ln w="8890">
            <a:solidFill>
              <a:srgbClr val="D7CC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04672" y="4315968"/>
            <a:ext cx="10241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32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LISTS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2103120" y="4224528"/>
            <a:ext cx="1773936" cy="329184"/>
          </a:xfrm>
          <a:prstGeom prst="roundRect">
            <a:avLst>
              <a:gd name="adj" fmla="val 22222"/>
            </a:avLst>
          </a:prstGeom>
          <a:solidFill>
            <a:srgbClr val="F7F5FF"/>
          </a:solidFill>
          <a:ln w="8890">
            <a:solidFill>
              <a:srgbClr val="D7CCF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212848" y="4315968"/>
            <a:ext cx="15544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32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PERSONALIZED VIDEO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041648" y="4224528"/>
            <a:ext cx="1719072" cy="329184"/>
          </a:xfrm>
          <a:prstGeom prst="roundRect">
            <a:avLst>
              <a:gd name="adj" fmla="val 22222"/>
            </a:avLst>
          </a:prstGeom>
          <a:solidFill>
            <a:srgbClr val="F7F5FF"/>
          </a:solidFill>
          <a:ln w="8890">
            <a:solidFill>
              <a:srgbClr val="D7CCF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151376" y="4315968"/>
            <a:ext cx="149961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32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COMBINED REPORTING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6492240" y="1243584"/>
            <a:ext cx="4983480" cy="4526280"/>
          </a:xfrm>
          <a:prstGeom prst="roundRect">
            <a:avLst>
              <a:gd name="adj" fmla="val 3636"/>
            </a:avLst>
          </a:prstGeom>
          <a:solidFill>
            <a:srgbClr val="F7F5FF"/>
          </a:solidFill>
          <a:ln w="10160">
            <a:solidFill>
              <a:srgbClr val="D7CCFF"/>
            </a:solidFill>
            <a:prstDash val="solid"/>
          </a:ln>
          <a:effectLst>
            <a:outerShdw sx="100000" sy="100000" kx="0" ky="0" algn="bl" rotWithShape="0" blurRad="322580000" dist="645160000" dir="162000000000">
              <a:srgbClr val="CFC7E8">
                <a:alpha val="1600000000"/>
              </a:srgbClr>
            </a:outerShdw>
          </a:effectLst>
        </p:spPr>
      </p:sp>
      <p:pic>
        <p:nvPicPr>
          <p:cNvPr id="16" name="Image 1" descr="/Users/nicol/Desktop/PROJECTS/leadreacher/apps/web/public/logo/leadreacher_icon_colored.sv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050024" y="2139696"/>
            <a:ext cx="1097280" cy="109728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8165592" y="2697480"/>
            <a:ext cx="1572768" cy="0"/>
          </a:xfrm>
          <a:prstGeom prst="line">
            <a:avLst/>
          </a:prstGeom>
          <a:noFill/>
          <a:ln w="22860">
            <a:solidFill>
              <a:srgbClr val="5A32ED"/>
            </a:solidFill>
            <a:prstDash val="solid"/>
            <a:headEnd type="none"/>
            <a:tailEnd type="triangle"/>
          </a:ln>
        </p:spPr>
      </p:sp>
      <p:sp>
        <p:nvSpPr>
          <p:cNvPr id="18" name="Shape 14"/>
          <p:cNvSpPr/>
          <p:nvPr/>
        </p:nvSpPr>
        <p:spPr>
          <a:xfrm>
            <a:off x="9784080" y="2057400"/>
            <a:ext cx="1261872" cy="126187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A32ED"/>
            </a:solidFill>
            <a:prstDash val="solid"/>
          </a:ln>
        </p:spPr>
      </p:sp>
      <p:pic>
        <p:nvPicPr>
          <p:cNvPr id="19" name="Image 2" descr="/Users/nicol/Desktop/PROJECTS/leadreacher/docs/presentations/assets/statflo-logo.sv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893808" y="2450592"/>
            <a:ext cx="1078992" cy="384048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7059168" y="3794760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01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platform does what it does best.</a:t>
            </a:r>
            <a:endParaRPr lang="en-US" sz="1800" dirty="0"/>
          </a:p>
        </p:txBody>
      </p:sp>
      <p:sp>
        <p:nvSpPr>
          <p:cNvPr id="21" name="Text 16"/>
          <p:cNvSpPr/>
          <p:nvPr/>
        </p:nvSpPr>
        <p:spPr>
          <a:xfrm>
            <a:off x="7150608" y="4498848"/>
            <a:ext cx="3429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64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Statflo owns customer records and compliant conversations. LeadReacher handles audience intelligence, personalized outreach and campaign reporting.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658368" y="6382512"/>
            <a:ext cx="10835640" cy="0"/>
          </a:xfrm>
          <a:prstGeom prst="line">
            <a:avLst/>
          </a:prstGeom>
          <a:noFill/>
          <a:ln w="8255">
            <a:solidFill>
              <a:srgbClr val="E6E2F2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658368" y="6464808"/>
            <a:ext cx="50292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LeadReacher + Statflo integration proposal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228600" cy="1463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85899A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82880"/>
            <a:ext cx="11676888" cy="512064"/>
          </a:xfrm>
          <a:prstGeom prst="roundRect">
            <a:avLst>
              <a:gd name="adj" fmla="val 21429"/>
            </a:avLst>
          </a:prstGeom>
          <a:solidFill>
            <a:srgbClr val="FFFFFF">
              <a:alpha val="97000"/>
            </a:srgbClr>
          </a:solidFill>
          <a:ln w="8890">
            <a:solidFill>
              <a:srgbClr val="E6E2F2"/>
            </a:solidFill>
            <a:prstDash val="solid"/>
          </a:ln>
          <a:effectLst>
            <a:outerShdw sx="100000" sy="100000" kx="0" ky="0" algn="bl" rotWithShape="0" blurRad="4096766000000" dist="8193532000000" dir="9720000000000000">
              <a:srgbClr val="CFC7E8">
                <a:alpha val="160000000000000"/>
              </a:srgbClr>
            </a:outerShdw>
          </a:effectLst>
        </p:spPr>
      </p:sp>
      <p:pic>
        <p:nvPicPr>
          <p:cNvPr id="3" name="Image 0" descr="/Users/nicol/Desktop/PROJECTS/leadreacher/apps/web/public/logo/leadreacher_logo_colored_transparent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5488" y="310896"/>
            <a:ext cx="2240280" cy="19202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464040" y="338328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170" kern="0" dirty="0">
                <a:solidFill>
                  <a:srgbClr val="5A32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| WHAT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658368" y="941832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A32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INTEGRATION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58368" y="118872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01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audience. Five connected steps.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818120" y="1234440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64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proposed workflow that keeps Statflo at the centre of the customer relationship.</a:t>
            </a:r>
            <a:endParaRPr lang="en-US" sz="1080" dirty="0"/>
          </a:p>
        </p:txBody>
      </p:sp>
      <p:sp>
        <p:nvSpPr>
          <p:cNvPr id="8" name="Shape 5"/>
          <p:cNvSpPr/>
          <p:nvPr/>
        </p:nvSpPr>
        <p:spPr>
          <a:xfrm>
            <a:off x="658368" y="1993392"/>
            <a:ext cx="1901952" cy="1901952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0795">
            <a:solidFill>
              <a:srgbClr val="D7CCFF"/>
            </a:solidFill>
            <a:prstDash val="solid"/>
          </a:ln>
          <a:effectLst>
            <a:outerShdw sx="100000" sy="100000" kx="0" ky="0" algn="bl" rotWithShape="0" blurRad="52028928200000000" dist="104057856400000000" dir="583200000000000000000">
              <a:srgbClr val="CFC7E8">
                <a:alpha val="1600000000000000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59536" y="2258568"/>
            <a:ext cx="40233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5A32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780" dirty="0"/>
          </a:p>
        </p:txBody>
      </p:sp>
      <p:sp>
        <p:nvSpPr>
          <p:cNvPr id="10" name="Text 7"/>
          <p:cNvSpPr/>
          <p:nvPr/>
        </p:nvSpPr>
        <p:spPr>
          <a:xfrm>
            <a:off x="859536" y="2651760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50" kern="0" dirty="0">
                <a:solidFill>
                  <a:srgbClr val="101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LIST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859536" y="3127248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64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Approved audience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596896" y="2944368"/>
            <a:ext cx="237744" cy="0"/>
          </a:xfrm>
          <a:prstGeom prst="line">
            <a:avLst/>
          </a:prstGeom>
          <a:noFill/>
          <a:ln w="15875">
            <a:solidFill>
              <a:srgbClr val="5A32ED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2889504" y="1993392"/>
            <a:ext cx="1901952" cy="1901952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0795">
            <a:solidFill>
              <a:srgbClr val="D7CCFF"/>
            </a:solidFill>
            <a:prstDash val="solid"/>
          </a:ln>
          <a:effectLst>
            <a:outerShdw sx="100000" sy="100000" kx="0" ky="0" algn="bl" rotWithShape="0" blurRad="660767388140000000000" dist="1.32153477628e+21" dir="3.4992e+25">
              <a:srgbClr val="CFC7E8">
                <a:alpha val="1.6e+24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3090672" y="2258568"/>
            <a:ext cx="40233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5A32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780" dirty="0"/>
          </a:p>
        </p:txBody>
      </p:sp>
      <p:sp>
        <p:nvSpPr>
          <p:cNvPr id="15" name="Text 12"/>
          <p:cNvSpPr/>
          <p:nvPr/>
        </p:nvSpPr>
        <p:spPr>
          <a:xfrm>
            <a:off x="3090672" y="2651760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50" kern="0" dirty="0">
                <a:solidFill>
                  <a:srgbClr val="101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QUALIFY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3090672" y="3127248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64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the best fit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4828032" y="2944368"/>
            <a:ext cx="237744" cy="0"/>
          </a:xfrm>
          <a:prstGeom prst="line">
            <a:avLst/>
          </a:prstGeom>
          <a:noFill/>
          <a:ln w="15875">
            <a:solidFill>
              <a:srgbClr val="5A32ED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5120640" y="1993392"/>
            <a:ext cx="1901952" cy="1901952"/>
          </a:xfrm>
          <a:prstGeom prst="roundRect">
            <a:avLst>
              <a:gd name="adj" fmla="val 5769"/>
            </a:avLst>
          </a:prstGeom>
          <a:solidFill>
            <a:srgbClr val="050A1F"/>
          </a:solidFill>
          <a:ln w="10795">
            <a:solidFill>
              <a:srgbClr val="050A1F"/>
            </a:solidFill>
            <a:prstDash val="solid"/>
          </a:ln>
          <a:effectLst>
            <a:outerShdw sx="100000" sy="100000" kx="0" ky="0" algn="bl" rotWithShape="0" blurRad="8.391745829378e+24" dist="1.6783491658756e+25" dir="2.09952e+30">
              <a:srgbClr val="CFC7E8">
                <a:alpha val="1.6e+29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5321808" y="2258568"/>
            <a:ext cx="40233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9F8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780" dirty="0"/>
          </a:p>
        </p:txBody>
      </p:sp>
      <p:sp>
        <p:nvSpPr>
          <p:cNvPr id="20" name="Text 17"/>
          <p:cNvSpPr/>
          <p:nvPr/>
        </p:nvSpPr>
        <p:spPr>
          <a:xfrm>
            <a:off x="5321808" y="2651760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PERSONALIZE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5321808" y="3127248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D6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Message + video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7059168" y="2944368"/>
            <a:ext cx="237744" cy="0"/>
          </a:xfrm>
          <a:prstGeom prst="line">
            <a:avLst/>
          </a:prstGeom>
          <a:noFill/>
          <a:ln w="15875">
            <a:solidFill>
              <a:srgbClr val="5A32ED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7351776" y="1993392"/>
            <a:ext cx="1901952" cy="1901952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0795">
            <a:solidFill>
              <a:srgbClr val="D7CCFF"/>
            </a:solidFill>
            <a:prstDash val="solid"/>
          </a:ln>
          <a:effectLst>
            <a:outerShdw sx="100000" sy="100000" kx="0" ky="0" algn="bl" rotWithShape="0" blurRad="1.0657517203310059e+29" dist="2.1315034406620118e+29" dir="1.259712e+35">
              <a:srgbClr val="CFC7E8">
                <a:alpha val="1.6e+34"/>
              </a:srgbClr>
            </a:outerShdw>
          </a:effectLst>
        </p:spPr>
      </p:sp>
      <p:sp>
        <p:nvSpPr>
          <p:cNvPr id="24" name="Text 21"/>
          <p:cNvSpPr/>
          <p:nvPr/>
        </p:nvSpPr>
        <p:spPr>
          <a:xfrm>
            <a:off x="7552944" y="2258568"/>
            <a:ext cx="40233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5A32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780" dirty="0"/>
          </a:p>
        </p:txBody>
      </p:sp>
      <p:sp>
        <p:nvSpPr>
          <p:cNvPr id="25" name="Text 22"/>
          <p:cNvSpPr/>
          <p:nvPr/>
        </p:nvSpPr>
        <p:spPr>
          <a:xfrm>
            <a:off x="7552944" y="2651760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50" kern="0" dirty="0">
                <a:solidFill>
                  <a:srgbClr val="101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</a:t>
            </a:r>
            <a:endParaRPr lang="en-US" sz="1150" dirty="0"/>
          </a:p>
        </p:txBody>
      </p:sp>
      <p:sp>
        <p:nvSpPr>
          <p:cNvPr id="26" name="Text 23"/>
          <p:cNvSpPr/>
          <p:nvPr/>
        </p:nvSpPr>
        <p:spPr>
          <a:xfrm>
            <a:off x="7552944" y="3127248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64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reviews all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9290304" y="2944368"/>
            <a:ext cx="237744" cy="0"/>
          </a:xfrm>
          <a:prstGeom prst="line">
            <a:avLst/>
          </a:prstGeom>
          <a:noFill/>
          <a:ln w="15875">
            <a:solidFill>
              <a:srgbClr val="5A32ED"/>
            </a:solidFill>
            <a:prstDash val="solid"/>
            <a:tailEnd type="triangle"/>
          </a:ln>
        </p:spPr>
      </p:sp>
      <p:sp>
        <p:nvSpPr>
          <p:cNvPr id="28" name="Shape 25"/>
          <p:cNvSpPr/>
          <p:nvPr/>
        </p:nvSpPr>
        <p:spPr>
          <a:xfrm>
            <a:off x="9582912" y="1993392"/>
            <a:ext cx="1901952" cy="1901952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0795">
            <a:solidFill>
              <a:srgbClr val="D7CCFF"/>
            </a:solidFill>
            <a:prstDash val="solid"/>
          </a:ln>
          <a:effectLst>
            <a:outerShdw sx="100000" sy="100000" kx="0" ky="0" algn="bl" rotWithShape="0" blurRad="1.3535046848203775e+33" dist="2.707009369640755e+33" dir="7.558272e+39">
              <a:srgbClr val="CFC7E8">
                <a:alpha val="1.6e+39"/>
              </a:srgbClr>
            </a:outerShdw>
          </a:effectLst>
        </p:spPr>
      </p:sp>
      <p:sp>
        <p:nvSpPr>
          <p:cNvPr id="29" name="Text 26"/>
          <p:cNvSpPr/>
          <p:nvPr/>
        </p:nvSpPr>
        <p:spPr>
          <a:xfrm>
            <a:off x="9784080" y="2258568"/>
            <a:ext cx="40233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5A32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780" dirty="0"/>
          </a:p>
        </p:txBody>
      </p:sp>
      <p:sp>
        <p:nvSpPr>
          <p:cNvPr id="30" name="Text 27"/>
          <p:cNvSpPr/>
          <p:nvPr/>
        </p:nvSpPr>
        <p:spPr>
          <a:xfrm>
            <a:off x="9784080" y="2651760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50" kern="0" dirty="0">
                <a:solidFill>
                  <a:srgbClr val="101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</a:t>
            </a:r>
            <a:endParaRPr lang="en-US" sz="1150" dirty="0"/>
          </a:p>
        </p:txBody>
      </p:sp>
      <p:sp>
        <p:nvSpPr>
          <p:cNvPr id="31" name="Text 28"/>
          <p:cNvSpPr/>
          <p:nvPr/>
        </p:nvSpPr>
        <p:spPr>
          <a:xfrm>
            <a:off x="9784080" y="3127248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64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 return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658368" y="4315968"/>
            <a:ext cx="10972800" cy="1481328"/>
          </a:xfrm>
          <a:prstGeom prst="roundRect">
            <a:avLst>
              <a:gd name="adj" fmla="val 6790"/>
            </a:avLst>
          </a:prstGeom>
          <a:solidFill>
            <a:srgbClr val="F7F5FF"/>
          </a:solidFill>
          <a:ln w="10160">
            <a:solidFill>
              <a:srgbClr val="D7CCF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987552" y="4617720"/>
            <a:ext cx="13258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spc="100" kern="0" dirty="0">
                <a:solidFill>
                  <a:srgbClr val="5A32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STATFLO OWNS</a:t>
            </a:r>
            <a:endParaRPr lang="en-US" sz="780" dirty="0"/>
          </a:p>
        </p:txBody>
      </p:sp>
      <p:sp>
        <p:nvSpPr>
          <p:cNvPr id="34" name="Text 31"/>
          <p:cNvSpPr/>
          <p:nvPr/>
        </p:nvSpPr>
        <p:spPr>
          <a:xfrm>
            <a:off x="987552" y="4956048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101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records, assignments and compliant conversations</a:t>
            </a:r>
            <a:endParaRPr lang="en-US" sz="1220" dirty="0"/>
          </a:p>
        </p:txBody>
      </p:sp>
      <p:sp>
        <p:nvSpPr>
          <p:cNvPr id="35" name="Shape 32"/>
          <p:cNvSpPr/>
          <p:nvPr/>
        </p:nvSpPr>
        <p:spPr>
          <a:xfrm>
            <a:off x="5925312" y="4553712"/>
            <a:ext cx="0" cy="960120"/>
          </a:xfrm>
          <a:prstGeom prst="line">
            <a:avLst/>
          </a:prstGeom>
          <a:noFill/>
          <a:ln w="10160">
            <a:solidFill>
              <a:srgbClr val="D7CCFF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6327648" y="4617720"/>
            <a:ext cx="169164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spc="100" kern="0" dirty="0">
                <a:solidFill>
                  <a:srgbClr val="5A32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LEADREACHER OWNS</a:t>
            </a:r>
            <a:endParaRPr lang="en-US" sz="780" dirty="0"/>
          </a:p>
        </p:txBody>
      </p:sp>
      <p:sp>
        <p:nvSpPr>
          <p:cNvPr id="37" name="Text 34"/>
          <p:cNvSpPr/>
          <p:nvPr/>
        </p:nvSpPr>
        <p:spPr>
          <a:xfrm>
            <a:off x="6327648" y="4956048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101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Audience intelligence, personalization, outreach and reporting</a:t>
            </a:r>
            <a:endParaRPr lang="en-US" sz="1220" dirty="0"/>
          </a:p>
        </p:txBody>
      </p:sp>
      <p:sp>
        <p:nvSpPr>
          <p:cNvPr id="38" name="Shape 35"/>
          <p:cNvSpPr/>
          <p:nvPr/>
        </p:nvSpPr>
        <p:spPr>
          <a:xfrm>
            <a:off x="658368" y="6382512"/>
            <a:ext cx="10835640" cy="0"/>
          </a:xfrm>
          <a:prstGeom prst="line">
            <a:avLst/>
          </a:prstGeom>
          <a:noFill/>
          <a:ln w="8255">
            <a:solidFill>
              <a:srgbClr val="E6E2F2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658368" y="6464808"/>
            <a:ext cx="50292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LeadReacher + Statflo | what the integration does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228600" cy="1463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85899A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82880"/>
            <a:ext cx="11676888" cy="512064"/>
          </a:xfrm>
          <a:prstGeom prst="roundRect">
            <a:avLst>
              <a:gd name="adj" fmla="val 21429"/>
            </a:avLst>
          </a:prstGeom>
          <a:solidFill>
            <a:srgbClr val="FFFFFF">
              <a:alpha val="97000"/>
            </a:srgbClr>
          </a:solidFill>
          <a:ln w="8890">
            <a:solidFill>
              <a:srgbClr val="E6E2F2"/>
            </a:solidFill>
            <a:prstDash val="solid"/>
          </a:ln>
          <a:effectLst>
            <a:outerShdw sx="100000" sy="100000" kx="0" ky="0" algn="bl" rotWithShape="0" blurRad="1.7189509497218795e+37" dist="3.437901899443759e+37" dir="4.5349632000000006e+44">
              <a:srgbClr val="CFC7E8">
                <a:alpha val="1.6e+44"/>
              </a:srgbClr>
            </a:outerShdw>
          </a:effectLst>
        </p:spPr>
      </p:sp>
      <p:pic>
        <p:nvPicPr>
          <p:cNvPr id="3" name="Image 0" descr="/Users/nicol/Desktop/PROJECTS/leadreacher/apps/web/public/logo/leadreacher_logo_colored_transparent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5488" y="310896"/>
            <a:ext cx="2240280" cy="19202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464040" y="338328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170" kern="0" dirty="0">
                <a:solidFill>
                  <a:srgbClr val="5A32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| WHY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658368" y="941832"/>
            <a:ext cx="4389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A32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BUSINESS CASE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58368" y="118872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01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qualified conversations create the upside.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909560" y="1234440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80" dirty="0">
                <a:solidFill>
                  <a:srgbClr val="64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 assumptions only. Replace with Statflo data before external use.</a:t>
            </a:r>
            <a:endParaRPr lang="en-US" sz="980" dirty="0"/>
          </a:p>
        </p:txBody>
      </p:sp>
      <p:sp>
        <p:nvSpPr>
          <p:cNvPr id="8" name="Shape 5"/>
          <p:cNvSpPr/>
          <p:nvPr/>
        </p:nvSpPr>
        <p:spPr>
          <a:xfrm>
            <a:off x="658368" y="1993392"/>
            <a:ext cx="2450592" cy="2212848"/>
          </a:xfrm>
          <a:prstGeom prst="roundRect">
            <a:avLst>
              <a:gd name="adj" fmla="val 4959"/>
            </a:avLst>
          </a:prstGeom>
          <a:solidFill>
            <a:srgbClr val="FFFFFF"/>
          </a:solidFill>
          <a:ln w="10795">
            <a:solidFill>
              <a:srgbClr val="D7CCFF"/>
            </a:solidFill>
            <a:prstDash val="solid"/>
          </a:ln>
          <a:effectLst>
            <a:outerShdw sx="100000" sy="100000" kx="0" ky="0" algn="bl" rotWithShape="0" blurRad="2.183067706146787e+41" dist="4.366135412293574e+41" dir="2.72097792e+49">
              <a:srgbClr val="CFC7E8">
                <a:alpha val="1.6e+49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59536" y="2359152"/>
            <a:ext cx="20482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01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10,000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859536" y="3063240"/>
            <a:ext cx="204825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90" kern="0" dirty="0">
                <a:solidFill>
                  <a:srgbClr val="5A32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ELIGIBLE CONTACTS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59536" y="3456432"/>
            <a:ext cx="20482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64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Approved starting audience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3154680" y="3090672"/>
            <a:ext cx="228600" cy="0"/>
          </a:xfrm>
          <a:prstGeom prst="line">
            <a:avLst/>
          </a:prstGeom>
          <a:noFill/>
          <a:ln w="15875">
            <a:solidFill>
              <a:srgbClr val="5A32ED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3447288" y="1993392"/>
            <a:ext cx="2450592" cy="2212848"/>
          </a:xfrm>
          <a:prstGeom prst="roundRect">
            <a:avLst>
              <a:gd name="adj" fmla="val 4959"/>
            </a:avLst>
          </a:prstGeom>
          <a:solidFill>
            <a:srgbClr val="050A1F"/>
          </a:solidFill>
          <a:ln w="10795">
            <a:solidFill>
              <a:srgbClr val="050A1F"/>
            </a:solidFill>
            <a:prstDash val="solid"/>
          </a:ln>
          <a:effectLst>
            <a:outerShdw sx="100000" sy="100000" kx="0" ky="0" algn="bl" rotWithShape="0" blurRad="2.7724959868064195e+45" dist="5.544991973612839e+45" dir="1.6325867520000003e+54">
              <a:srgbClr val="CFC7E8">
                <a:alpha val="1.6e+54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3648456" y="2359152"/>
            <a:ext cx="20482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8%</a:t>
            </a:r>
            <a:endParaRPr lang="en-US" sz="3000" dirty="0"/>
          </a:p>
        </p:txBody>
      </p:sp>
      <p:sp>
        <p:nvSpPr>
          <p:cNvPr id="15" name="Text 12"/>
          <p:cNvSpPr/>
          <p:nvPr/>
        </p:nvSpPr>
        <p:spPr>
          <a:xfrm>
            <a:off x="3648456" y="3063240"/>
            <a:ext cx="204825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90" kern="0" dirty="0">
                <a:solidFill>
                  <a:srgbClr val="9F8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POSITIVE REPLIES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3648456" y="3456432"/>
            <a:ext cx="20482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D6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800 conversations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943600" y="3090672"/>
            <a:ext cx="228600" cy="0"/>
          </a:xfrm>
          <a:prstGeom prst="line">
            <a:avLst/>
          </a:prstGeom>
          <a:noFill/>
          <a:ln w="15875">
            <a:solidFill>
              <a:srgbClr val="5A32ED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6236208" y="1993392"/>
            <a:ext cx="2450592" cy="2212848"/>
          </a:xfrm>
          <a:prstGeom prst="roundRect">
            <a:avLst>
              <a:gd name="adj" fmla="val 4959"/>
            </a:avLst>
          </a:prstGeom>
          <a:solidFill>
            <a:srgbClr val="FFFFFF"/>
          </a:solidFill>
          <a:ln w="10795">
            <a:solidFill>
              <a:srgbClr val="D7CCFF"/>
            </a:solidFill>
            <a:prstDash val="solid"/>
          </a:ln>
          <a:effectLst>
            <a:outerShdw sx="100000" sy="100000" kx="0" ky="0" algn="bl" rotWithShape="0" blurRad="3.5210699032441527e+49" dist="7.042139806488305e+49" dir="9.795520512000002e+58">
              <a:srgbClr val="CFC7E8">
                <a:alpha val="1.6e+59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6437376" y="2359152"/>
            <a:ext cx="20482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01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3000" dirty="0"/>
          </a:p>
        </p:txBody>
      </p:sp>
      <p:sp>
        <p:nvSpPr>
          <p:cNvPr id="20" name="Text 17"/>
          <p:cNvSpPr/>
          <p:nvPr/>
        </p:nvSpPr>
        <p:spPr>
          <a:xfrm>
            <a:off x="6437376" y="3063240"/>
            <a:ext cx="204825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90" kern="0" dirty="0">
                <a:solidFill>
                  <a:srgbClr val="5A32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QUALIFIED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6437376" y="3456432"/>
            <a:ext cx="20482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64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160 opportunities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9015984" y="1993392"/>
            <a:ext cx="2615184" cy="2212848"/>
          </a:xfrm>
          <a:prstGeom prst="roundRect">
            <a:avLst>
              <a:gd name="adj" fmla="val 4959"/>
            </a:avLst>
          </a:prstGeom>
          <a:solidFill>
            <a:srgbClr val="5A32ED"/>
          </a:solidFill>
          <a:ln w="12700">
            <a:solidFill>
              <a:srgbClr val="5A32ED"/>
            </a:solidFill>
            <a:prstDash val="solid"/>
          </a:ln>
          <a:effectLst>
            <a:outerShdw sx="100000" sy="100000" kx="0" ky="0" algn="bl" rotWithShape="0" blurRad="4.471758777120074e+53" dist="8.943517554240149e+53" dir="5.877312307200001e+63">
              <a:srgbClr val="CFC7E8">
                <a:alpha val="1.5999999999999998e+64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9217152" y="2377440"/>
            <a:ext cx="22128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$800K</a:t>
            </a:r>
            <a:endParaRPr lang="en-US" sz="3100" dirty="0"/>
          </a:p>
        </p:txBody>
      </p:sp>
      <p:sp>
        <p:nvSpPr>
          <p:cNvPr id="24" name="Text 21"/>
          <p:cNvSpPr/>
          <p:nvPr/>
        </p:nvSpPr>
        <p:spPr>
          <a:xfrm>
            <a:off x="9217152" y="3063240"/>
            <a:ext cx="221284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E4DE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POTENTIAL PIPELINE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9217152" y="3456432"/>
            <a:ext cx="22128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160 × $5K opportunity value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658368" y="4590288"/>
            <a:ext cx="10972800" cy="1143000"/>
          </a:xfrm>
          <a:prstGeom prst="roundRect">
            <a:avLst>
              <a:gd name="adj" fmla="val 8000"/>
            </a:avLst>
          </a:prstGeom>
          <a:solidFill>
            <a:srgbClr val="F7F5FF"/>
          </a:solidFill>
          <a:ln w="10160">
            <a:solidFill>
              <a:srgbClr val="D7CCF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960120" y="4882896"/>
            <a:ext cx="13716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spc="100" kern="0" dirty="0">
                <a:solidFill>
                  <a:srgbClr val="5A32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MODEL</a:t>
            </a:r>
            <a:endParaRPr lang="en-US" sz="780" dirty="0"/>
          </a:p>
        </p:txBody>
      </p:sp>
      <p:sp>
        <p:nvSpPr>
          <p:cNvPr id="28" name="Text 25"/>
          <p:cNvSpPr/>
          <p:nvPr/>
        </p:nvSpPr>
        <p:spPr>
          <a:xfrm>
            <a:off x="2450592" y="4818888"/>
            <a:ext cx="6675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Eligible audience × positive reply rate × qualification rate × opportunity value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9281160" y="4882896"/>
            <a:ext cx="19202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20" dirty="0">
                <a:solidFill>
                  <a:srgbClr val="64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 each input with Statflo</a:t>
            </a:r>
            <a:endParaRPr lang="en-US" sz="820" dirty="0"/>
          </a:p>
        </p:txBody>
      </p:sp>
      <p:sp>
        <p:nvSpPr>
          <p:cNvPr id="30" name="Shape 27"/>
          <p:cNvSpPr/>
          <p:nvPr/>
        </p:nvSpPr>
        <p:spPr>
          <a:xfrm>
            <a:off x="658368" y="6382512"/>
            <a:ext cx="10835640" cy="0"/>
          </a:xfrm>
          <a:prstGeom prst="line">
            <a:avLst/>
          </a:prstGeom>
          <a:noFill/>
          <a:ln w="8255">
            <a:solidFill>
              <a:srgbClr val="E6E2F2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58368" y="6464808"/>
            <a:ext cx="50292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LeadReacher + Statflo | illustrative revenue case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228600" cy="1463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85899A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82880"/>
            <a:ext cx="11676888" cy="512064"/>
          </a:xfrm>
          <a:prstGeom prst="roundRect">
            <a:avLst>
              <a:gd name="adj" fmla="val 21429"/>
            </a:avLst>
          </a:prstGeom>
          <a:solidFill>
            <a:srgbClr val="FFFFFF">
              <a:alpha val="97000"/>
            </a:srgbClr>
          </a:solidFill>
          <a:ln w="8890">
            <a:solidFill>
              <a:srgbClr val="E6E2F2"/>
            </a:solidFill>
            <a:prstDash val="solid"/>
          </a:ln>
          <a:effectLst>
            <a:outerShdw sx="100000" sy="100000" kx="0" ky="0" algn="bl" rotWithShape="0" blurRad="5.679133646942494e+57" dist="1.1358267293884988e+58" dir="3.526387384320001e+68">
              <a:srgbClr val="CFC7E8">
                <a:alpha val="1.5999999999999997e+69"/>
              </a:srgbClr>
            </a:outerShdw>
          </a:effectLst>
        </p:spPr>
      </p:sp>
      <p:pic>
        <p:nvPicPr>
          <p:cNvPr id="3" name="Image 0" descr="/Users/nicol/Desktop/PROJECTS/leadreacher/apps/web/public/logo/leadreacher_logo_colored_transparent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5488" y="310896"/>
            <a:ext cx="2240280" cy="19202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464040" y="338328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170" kern="0" dirty="0">
                <a:solidFill>
                  <a:srgbClr val="5A32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| HOW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658368" y="941832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A32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FIRST PILOT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58368" y="118872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1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small. Prove value. Then scale.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772400" y="1234440"/>
            <a:ext cx="3401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64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approved Smart List gives both teams a controlled way to test the integration.</a:t>
            </a:r>
            <a:endParaRPr lang="en-US" sz="1080" dirty="0"/>
          </a:p>
        </p:txBody>
      </p:sp>
      <p:sp>
        <p:nvSpPr>
          <p:cNvPr id="8" name="Shape 5"/>
          <p:cNvSpPr/>
          <p:nvPr/>
        </p:nvSpPr>
        <p:spPr>
          <a:xfrm>
            <a:off x="658368" y="2057400"/>
            <a:ext cx="2487168" cy="2487168"/>
          </a:xfrm>
          <a:prstGeom prst="roundRect">
            <a:avLst>
              <a:gd name="adj" fmla="val 4779"/>
            </a:avLst>
          </a:prstGeom>
          <a:solidFill>
            <a:srgbClr val="FFFFFF"/>
          </a:solidFill>
          <a:ln w="10795">
            <a:solidFill>
              <a:srgbClr val="D7CCFF"/>
            </a:solidFill>
            <a:prstDash val="solid"/>
          </a:ln>
          <a:effectLst>
            <a:outerShdw sx="100000" sy="100000" kx="0" ky="0" algn="bl" rotWithShape="0" blurRad="7.212499731616968e+61" dist="1.4424999463233936e+62" dir="2.1158324305920003e+73">
              <a:srgbClr val="CFC7E8">
                <a:alpha val="1.5999999999999997e+74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96112" y="2359152"/>
            <a:ext cx="4114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A32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896112" y="2862072"/>
            <a:ext cx="19933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spc="50" kern="0" dirty="0">
                <a:solidFill>
                  <a:srgbClr val="101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AUDIENCE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932688" y="3401568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64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Statflo provides an approved Smart List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182112" y="3291840"/>
            <a:ext cx="219456" cy="0"/>
          </a:xfrm>
          <a:prstGeom prst="line">
            <a:avLst/>
          </a:prstGeom>
          <a:noFill/>
          <a:ln w="15875">
            <a:solidFill>
              <a:srgbClr val="5A32ED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3456432" y="2057400"/>
            <a:ext cx="2487168" cy="2487168"/>
          </a:xfrm>
          <a:prstGeom prst="roundRect">
            <a:avLst>
              <a:gd name="adj" fmla="val 4779"/>
            </a:avLst>
          </a:prstGeom>
          <a:solidFill>
            <a:srgbClr val="050A1F"/>
          </a:solidFill>
          <a:ln w="10795">
            <a:solidFill>
              <a:srgbClr val="050A1F"/>
            </a:solidFill>
            <a:prstDash val="solid"/>
          </a:ln>
          <a:effectLst>
            <a:outerShdw sx="100000" sy="100000" kx="0" ky="0" algn="bl" rotWithShape="0" blurRad="9.15987465915355e+65" dist="1.83197493183071e+66" dir="1.2694994583552002e+78">
              <a:srgbClr val="CFC7E8">
                <a:alpha val="1.5999999999999997e+79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3694176" y="2359152"/>
            <a:ext cx="4114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F8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3694176" y="2862072"/>
            <a:ext cx="19933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3730752" y="3401568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D6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LeadReacher creates messaging and video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980176" y="3291840"/>
            <a:ext cx="219456" cy="0"/>
          </a:xfrm>
          <a:prstGeom prst="line">
            <a:avLst/>
          </a:prstGeom>
          <a:noFill/>
          <a:ln w="15875">
            <a:solidFill>
              <a:srgbClr val="5A32ED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6254496" y="2057400"/>
            <a:ext cx="2487168" cy="2487168"/>
          </a:xfrm>
          <a:prstGeom prst="roundRect">
            <a:avLst>
              <a:gd name="adj" fmla="val 4779"/>
            </a:avLst>
          </a:prstGeom>
          <a:solidFill>
            <a:srgbClr val="FFFFFF"/>
          </a:solidFill>
          <a:ln w="10795">
            <a:solidFill>
              <a:srgbClr val="D7CCFF"/>
            </a:solidFill>
            <a:prstDash val="solid"/>
          </a:ln>
          <a:effectLst>
            <a:outerShdw sx="100000" sy="100000" kx="0" ky="0" algn="bl" rotWithShape="0" blurRad="1.1633040817125008e+70" dist="2.3266081634250016e+70" dir="7.616996750131201e+82">
              <a:srgbClr val="CFC7E8">
                <a:alpha val="1.5999999999999996e+84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6492240" y="2359152"/>
            <a:ext cx="4114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A32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6492240" y="2862072"/>
            <a:ext cx="19933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spc="50" kern="0" dirty="0">
                <a:solidFill>
                  <a:srgbClr val="101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6528816" y="3401568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64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reviews content, audience and channels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8778240" y="3291840"/>
            <a:ext cx="219456" cy="0"/>
          </a:xfrm>
          <a:prstGeom prst="line">
            <a:avLst/>
          </a:prstGeom>
          <a:noFill/>
          <a:ln w="15875">
            <a:solidFill>
              <a:srgbClr val="5A32ED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9052560" y="2057400"/>
            <a:ext cx="2487168" cy="2487168"/>
          </a:xfrm>
          <a:prstGeom prst="roundRect">
            <a:avLst>
              <a:gd name="adj" fmla="val 4779"/>
            </a:avLst>
          </a:prstGeom>
          <a:solidFill>
            <a:srgbClr val="FFFFFF"/>
          </a:solidFill>
          <a:ln w="10795">
            <a:solidFill>
              <a:srgbClr val="D7CCFF"/>
            </a:solidFill>
            <a:prstDash val="solid"/>
          </a:ln>
          <a:effectLst>
            <a:outerShdw sx="100000" sy="100000" kx="0" ky="0" algn="bl" rotWithShape="0" blurRad="1.477396183774876e+74" dist="2.954792367549752e+74" dir="4.57019805007872e+87">
              <a:srgbClr val="CFC7E8">
                <a:alpha val="1.5999999999999997e+89"/>
              </a:srgbClr>
            </a:outerShdw>
          </a:effectLst>
        </p:spPr>
      </p:sp>
      <p:sp>
        <p:nvSpPr>
          <p:cNvPr id="24" name="Text 21"/>
          <p:cNvSpPr/>
          <p:nvPr/>
        </p:nvSpPr>
        <p:spPr>
          <a:xfrm>
            <a:off x="9290304" y="2359152"/>
            <a:ext cx="4114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A32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9290304" y="2862072"/>
            <a:ext cx="19933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spc="50" kern="0" dirty="0">
                <a:solidFill>
                  <a:srgbClr val="101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</a:t>
            </a:r>
            <a:endParaRPr lang="en-US" sz="1350" dirty="0"/>
          </a:p>
        </p:txBody>
      </p:sp>
      <p:sp>
        <p:nvSpPr>
          <p:cNvPr id="26" name="Text 23"/>
          <p:cNvSpPr/>
          <p:nvPr/>
        </p:nvSpPr>
        <p:spPr>
          <a:xfrm>
            <a:off x="9326880" y="3401568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64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Outcomes and opt-outs return to Statflo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914400" y="5001768"/>
            <a:ext cx="1691640" cy="329184"/>
          </a:xfrm>
          <a:prstGeom prst="roundRect">
            <a:avLst>
              <a:gd name="adj" fmla="val 22222"/>
            </a:avLst>
          </a:prstGeom>
          <a:solidFill>
            <a:srgbClr val="F7F5FF"/>
          </a:solidFill>
          <a:ln w="8890">
            <a:solidFill>
              <a:srgbClr val="D7CCFF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024128" y="5093208"/>
            <a:ext cx="147218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32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APPROVAL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2898648" y="5001768"/>
            <a:ext cx="1691640" cy="329184"/>
          </a:xfrm>
          <a:prstGeom prst="roundRect">
            <a:avLst>
              <a:gd name="adj" fmla="val 22222"/>
            </a:avLst>
          </a:prstGeom>
          <a:solidFill>
            <a:srgbClr val="F7F5FF"/>
          </a:solidFill>
          <a:ln w="8890">
            <a:solidFill>
              <a:srgbClr val="D7CCF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3008376" y="5093208"/>
            <a:ext cx="147218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32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ELIGIBLE CHANNELS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4882896" y="5001768"/>
            <a:ext cx="1417320" cy="329184"/>
          </a:xfrm>
          <a:prstGeom prst="roundRect">
            <a:avLst>
              <a:gd name="adj" fmla="val 22222"/>
            </a:avLst>
          </a:prstGeom>
          <a:solidFill>
            <a:srgbClr val="F7F5FF"/>
          </a:solidFill>
          <a:ln w="8890">
            <a:solidFill>
              <a:srgbClr val="D7CCFF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4992624" y="5093208"/>
            <a:ext cx="11978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32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CONSENT RULES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6592824" y="5001768"/>
            <a:ext cx="1353312" cy="329184"/>
          </a:xfrm>
          <a:prstGeom prst="roundRect">
            <a:avLst>
              <a:gd name="adj" fmla="val 22222"/>
            </a:avLst>
          </a:prstGeom>
          <a:solidFill>
            <a:srgbClr val="F7F5FF"/>
          </a:solidFill>
          <a:ln w="8890">
            <a:solidFill>
              <a:srgbClr val="D7CCF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702552" y="5093208"/>
            <a:ext cx="113385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32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OPT-OUT SYNC</a:t>
            </a:r>
            <a:endParaRPr lang="en-US" sz="850" dirty="0"/>
          </a:p>
        </p:txBody>
      </p:sp>
      <p:sp>
        <p:nvSpPr>
          <p:cNvPr id="35" name="Shape 32"/>
          <p:cNvSpPr/>
          <p:nvPr/>
        </p:nvSpPr>
        <p:spPr>
          <a:xfrm>
            <a:off x="8238744" y="5001768"/>
            <a:ext cx="1783080" cy="329184"/>
          </a:xfrm>
          <a:prstGeom prst="roundRect">
            <a:avLst>
              <a:gd name="adj" fmla="val 22222"/>
            </a:avLst>
          </a:prstGeom>
          <a:solidFill>
            <a:srgbClr val="F7F5FF"/>
          </a:solidFill>
          <a:ln w="8890">
            <a:solidFill>
              <a:srgbClr val="D7CCFF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8348472" y="5093208"/>
            <a:ext cx="156362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32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COMBINED REPORTING</a:t>
            </a:r>
            <a:endParaRPr lang="en-US" sz="850" dirty="0"/>
          </a:p>
        </p:txBody>
      </p:sp>
      <p:sp>
        <p:nvSpPr>
          <p:cNvPr id="37" name="Shape 34"/>
          <p:cNvSpPr/>
          <p:nvPr/>
        </p:nvSpPr>
        <p:spPr>
          <a:xfrm>
            <a:off x="658368" y="6382512"/>
            <a:ext cx="10835640" cy="0"/>
          </a:xfrm>
          <a:prstGeom prst="line">
            <a:avLst/>
          </a:prstGeom>
          <a:noFill/>
          <a:ln w="8255">
            <a:solidFill>
              <a:srgbClr val="E6E2F2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658368" y="6464808"/>
            <a:ext cx="50292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LeadReacher + Statflo | how the pilot works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228600" cy="1463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85899A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82880"/>
            <a:ext cx="11676888" cy="512064"/>
          </a:xfrm>
          <a:prstGeom prst="roundRect">
            <a:avLst>
              <a:gd name="adj" fmla="val 21429"/>
            </a:avLst>
          </a:prstGeom>
          <a:solidFill>
            <a:srgbClr val="FFFFFF">
              <a:alpha val="97000"/>
            </a:srgbClr>
          </a:solidFill>
          <a:ln w="8890">
            <a:solidFill>
              <a:srgbClr val="E6E2F2"/>
            </a:solidFill>
            <a:prstDash val="solid"/>
          </a:ln>
          <a:effectLst>
            <a:outerShdw sx="100000" sy="100000" kx="0" ky="0" algn="bl" rotWithShape="0" blurRad="1.8762931533940924e+78" dist="3.752586306788185e+78" dir="2.742118830047232e+92">
              <a:srgbClr val="CFC7E8">
                <a:alpha val="1.5999999999999997e+94"/>
              </a:srgbClr>
            </a:outerShdw>
          </a:effectLst>
        </p:spPr>
      </p:sp>
      <p:pic>
        <p:nvPicPr>
          <p:cNvPr id="3" name="Image 0" descr="/Users/nicol/Desktop/PROJECTS/leadreacher/apps/web/public/logo/leadreacher_logo_colored_transparent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5488" y="310896"/>
            <a:ext cx="2240280" cy="19202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464040" y="338328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170" kern="0" dirty="0">
                <a:solidFill>
                  <a:srgbClr val="5A32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| HOW IT SCALES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658368" y="941832"/>
            <a:ext cx="4023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A32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COMMERCIAL PATHS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58368" y="118872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1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Launch lightly or build the full engine.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772400" y="1234440"/>
            <a:ext cx="3401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64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paths build on LeadReacher capabilities available today.</a:t>
            </a:r>
            <a:endParaRPr lang="en-US" sz="1080" dirty="0"/>
          </a:p>
        </p:txBody>
      </p:sp>
      <p:sp>
        <p:nvSpPr>
          <p:cNvPr id="8" name="Shape 5"/>
          <p:cNvSpPr/>
          <p:nvPr/>
        </p:nvSpPr>
        <p:spPr>
          <a:xfrm>
            <a:off x="658368" y="1901952"/>
            <a:ext cx="5285232" cy="4069080"/>
          </a:xfrm>
          <a:prstGeom prst="roundRect">
            <a:avLst>
              <a:gd name="adj" fmla="val 2921"/>
            </a:avLst>
          </a:prstGeom>
          <a:solidFill>
            <a:srgbClr val="FFFFFF"/>
          </a:solidFill>
          <a:ln w="10795">
            <a:solidFill>
              <a:srgbClr val="D7CCFF"/>
            </a:solidFill>
            <a:prstDash val="solid"/>
          </a:ln>
          <a:effectLst>
            <a:outerShdw sx="100000" sy="100000" kx="0" ky="0" algn="bl" rotWithShape="0" blurRad="2.3828923048104974e+82" dist="4.765784609620995e+82" dir="1.6452712980283393e+97">
              <a:srgbClr val="CFC7E8">
                <a:alpha val="1.5999999999999998e+99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932688" y="2176272"/>
            <a:ext cx="14173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80" kern="0" dirty="0">
                <a:solidFill>
                  <a:srgbClr val="5A32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PROPOSED CONCEPT</a:t>
            </a:r>
            <a:endParaRPr lang="en-US" sz="720" dirty="0"/>
          </a:p>
        </p:txBody>
      </p:sp>
      <p:sp>
        <p:nvSpPr>
          <p:cNvPr id="10" name="Shape 7"/>
          <p:cNvSpPr/>
          <p:nvPr/>
        </p:nvSpPr>
        <p:spPr>
          <a:xfrm>
            <a:off x="932688" y="2523744"/>
            <a:ext cx="4736592" cy="2176272"/>
          </a:xfrm>
          <a:prstGeom prst="roundRect">
            <a:avLst>
              <a:gd name="adj" fmla="val 3782"/>
            </a:avLst>
          </a:prstGeom>
          <a:solidFill>
            <a:srgbClr val="FAFAFD"/>
          </a:solidFill>
          <a:ln w="9525">
            <a:solidFill>
              <a:srgbClr val="E6E2F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70432" y="2761488"/>
            <a:ext cx="13716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80" kern="0" dirty="0">
                <a:solidFill>
                  <a:srgbClr val="8A8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STATFLO CONTACT</a:t>
            </a:r>
            <a:endParaRPr lang="en-US" sz="700" dirty="0"/>
          </a:p>
        </p:txBody>
      </p:sp>
      <p:sp>
        <p:nvSpPr>
          <p:cNvPr id="12" name="Shape 9"/>
          <p:cNvSpPr/>
          <p:nvPr/>
        </p:nvSpPr>
        <p:spPr>
          <a:xfrm>
            <a:off x="1170432" y="3081528"/>
            <a:ext cx="566928" cy="566928"/>
          </a:xfrm>
          <a:prstGeom prst="ellipse">
            <a:avLst/>
          </a:prstGeom>
          <a:solidFill>
            <a:srgbClr val="EEE9FF"/>
          </a:solidFill>
          <a:ln w="7620">
            <a:solidFill>
              <a:srgbClr val="D7CC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170432" y="3273552"/>
            <a:ext cx="5669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32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1920240" y="3081528"/>
            <a:ext cx="1508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101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Sarah Kim</a:t>
            </a:r>
            <a:endParaRPr lang="en-US" sz="1120" dirty="0"/>
          </a:p>
        </p:txBody>
      </p:sp>
      <p:sp>
        <p:nvSpPr>
          <p:cNvPr id="15" name="Text 12"/>
          <p:cNvSpPr/>
          <p:nvPr/>
        </p:nvSpPr>
        <p:spPr>
          <a:xfrm>
            <a:off x="1920240" y="3383280"/>
            <a:ext cx="2468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64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Common Thread  |  Existing customer</a:t>
            </a:r>
            <a:endParaRPr lang="en-US" sz="820" dirty="0"/>
          </a:p>
        </p:txBody>
      </p:sp>
      <p:sp>
        <p:nvSpPr>
          <p:cNvPr id="16" name="Shape 13"/>
          <p:cNvSpPr/>
          <p:nvPr/>
        </p:nvSpPr>
        <p:spPr>
          <a:xfrm>
            <a:off x="4169664" y="3054096"/>
            <a:ext cx="1170432" cy="530352"/>
          </a:xfrm>
          <a:prstGeom prst="roundRect">
            <a:avLst>
              <a:gd name="adj" fmla="val 13793"/>
            </a:avLst>
          </a:prstGeom>
          <a:solidFill>
            <a:srgbClr val="5A32ED"/>
          </a:solidFill>
          <a:ln w="12700">
            <a:solidFill>
              <a:srgbClr val="5A32E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297680" y="3246120"/>
            <a:ext cx="9144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OUTREACH</a:t>
            </a:r>
            <a:endParaRPr lang="en-US" sz="780" dirty="0"/>
          </a:p>
        </p:txBody>
      </p:sp>
      <p:sp>
        <p:nvSpPr>
          <p:cNvPr id="18" name="Shape 15"/>
          <p:cNvSpPr/>
          <p:nvPr/>
        </p:nvSpPr>
        <p:spPr>
          <a:xfrm>
            <a:off x="1170432" y="3877056"/>
            <a:ext cx="4169664" cy="0"/>
          </a:xfrm>
          <a:prstGeom prst="line">
            <a:avLst/>
          </a:prstGeom>
          <a:noFill/>
          <a:ln w="8255">
            <a:solidFill>
              <a:srgbClr val="E6E2F2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170432" y="4114800"/>
            <a:ext cx="41696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dirty="0">
                <a:solidFill>
                  <a:srgbClr val="64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Single-contact messaging and personalized video</a:t>
            </a:r>
            <a:endParaRPr lang="en-US" sz="920" dirty="0"/>
          </a:p>
        </p:txBody>
      </p:sp>
      <p:sp>
        <p:nvSpPr>
          <p:cNvPr id="20" name="Text 17"/>
          <p:cNvSpPr/>
          <p:nvPr/>
        </p:nvSpPr>
        <p:spPr>
          <a:xfrm>
            <a:off x="932688" y="5047488"/>
            <a:ext cx="7315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80" kern="0" dirty="0">
                <a:solidFill>
                  <a:srgbClr val="5A32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 1</a:t>
            </a:r>
            <a:endParaRPr lang="en-US" sz="720" dirty="0"/>
          </a:p>
        </p:txBody>
      </p:sp>
      <p:sp>
        <p:nvSpPr>
          <p:cNvPr id="21" name="Text 18"/>
          <p:cNvSpPr/>
          <p:nvPr/>
        </p:nvSpPr>
        <p:spPr>
          <a:xfrm>
            <a:off x="1755648" y="498348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1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Contact-level channel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932688" y="5458968"/>
            <a:ext cx="1828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 pilot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3913632" y="5458968"/>
            <a:ext cx="1508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A32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use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6236208" y="1901952"/>
            <a:ext cx="5285232" cy="4069080"/>
          </a:xfrm>
          <a:prstGeom prst="roundRect">
            <a:avLst>
              <a:gd name="adj" fmla="val 2921"/>
            </a:avLst>
          </a:prstGeom>
          <a:solidFill>
            <a:srgbClr val="050A1F"/>
          </a:solidFill>
          <a:ln w="12700">
            <a:solidFill>
              <a:srgbClr val="050A1F"/>
            </a:solidFill>
            <a:prstDash val="solid"/>
          </a:ln>
          <a:effectLst>
            <a:outerShdw sx="100000" sy="100000" kx="0" ky="0" algn="bl" rotWithShape="0" blurRad="3.0262732271093317e+86" dist="6.052546454218663e+86" dir="9.871627788170037e+101">
              <a:srgbClr val="CFC7E8">
                <a:alpha val="1.5999999999999997e+104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6510528" y="2176272"/>
            <a:ext cx="14173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80" kern="0" dirty="0">
                <a:solidFill>
                  <a:srgbClr val="9F8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PROPOSED CONCEPT</a:t>
            </a:r>
            <a:endParaRPr lang="en-US" sz="720" dirty="0"/>
          </a:p>
        </p:txBody>
      </p:sp>
      <p:sp>
        <p:nvSpPr>
          <p:cNvPr id="26" name="Shape 23"/>
          <p:cNvSpPr/>
          <p:nvPr/>
        </p:nvSpPr>
        <p:spPr>
          <a:xfrm>
            <a:off x="6510528" y="2523744"/>
            <a:ext cx="4736592" cy="2176272"/>
          </a:xfrm>
          <a:prstGeom prst="roundRect">
            <a:avLst>
              <a:gd name="adj" fmla="val 3782"/>
            </a:avLst>
          </a:prstGeom>
          <a:solidFill>
            <a:srgbClr val="11172E"/>
          </a:solidFill>
          <a:ln w="9525">
            <a:solidFill>
              <a:srgbClr val="2A3150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693408" y="2679192"/>
            <a:ext cx="1298448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8" name="Image 1" descr="/Users/nicol/Desktop/PROJECTS/leadreacher/docs/presentations/assets/statflo-logo.sv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812280" y="2770632"/>
            <a:ext cx="1060704" cy="347472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6748272" y="3273552"/>
            <a:ext cx="4023360" cy="0"/>
          </a:xfrm>
          <a:prstGeom prst="line">
            <a:avLst/>
          </a:prstGeom>
          <a:noFill/>
          <a:ln w="8255">
            <a:solidFill>
              <a:srgbClr val="2A3150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6748272" y="3493008"/>
            <a:ext cx="1188720" cy="749808"/>
          </a:xfrm>
          <a:prstGeom prst="roundRect">
            <a:avLst>
              <a:gd name="adj" fmla="val 7317"/>
            </a:avLst>
          </a:prstGeom>
          <a:solidFill>
            <a:srgbClr val="5A32ED"/>
          </a:solidFill>
          <a:ln w="12700">
            <a:solidFill>
              <a:srgbClr val="5A32ED"/>
            </a:solidFill>
            <a:prstDash val="solid"/>
          </a:ln>
        </p:spPr>
      </p:sp>
      <p:pic>
        <p:nvPicPr>
          <p:cNvPr id="31" name="Image 2" descr="/Users/nicol/Desktop/PROJECTS/leadreacher/apps/web/public/logo/leadreacher_icon_colored.sv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013448" y="3639312"/>
            <a:ext cx="329184" cy="329184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8211312" y="3511296"/>
            <a:ext cx="2331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LeadReacher outreach</a:t>
            </a:r>
            <a:endParaRPr lang="en-US" sz="1080" dirty="0"/>
          </a:p>
        </p:txBody>
      </p:sp>
      <p:sp>
        <p:nvSpPr>
          <p:cNvPr id="33" name="Text 28"/>
          <p:cNvSpPr/>
          <p:nvPr/>
        </p:nvSpPr>
        <p:spPr>
          <a:xfrm>
            <a:off x="8211312" y="3858768"/>
            <a:ext cx="2578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60" dirty="0">
                <a:solidFill>
                  <a:srgbClr val="B9BE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Lists  •  Audiences  •  Campaigns  •  Reporting</a:t>
            </a:r>
            <a:endParaRPr lang="en-US" sz="760" dirty="0"/>
          </a:p>
        </p:txBody>
      </p:sp>
      <p:sp>
        <p:nvSpPr>
          <p:cNvPr id="34" name="Text 29"/>
          <p:cNvSpPr/>
          <p:nvPr/>
        </p:nvSpPr>
        <p:spPr>
          <a:xfrm>
            <a:off x="6510528" y="5047488"/>
            <a:ext cx="7315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80" kern="0" dirty="0">
                <a:solidFill>
                  <a:srgbClr val="9F8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 2</a:t>
            </a:r>
            <a:endParaRPr lang="en-US" sz="720" dirty="0"/>
          </a:p>
        </p:txBody>
      </p:sp>
      <p:sp>
        <p:nvSpPr>
          <p:cNvPr id="35" name="Text 30"/>
          <p:cNvSpPr/>
          <p:nvPr/>
        </p:nvSpPr>
        <p:spPr>
          <a:xfrm>
            <a:off x="7333488" y="4983480"/>
            <a:ext cx="2971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outreach module</a:t>
            </a:r>
            <a:endParaRPr lang="en-US" sz="1250" dirty="0"/>
          </a:p>
        </p:txBody>
      </p:sp>
      <p:sp>
        <p:nvSpPr>
          <p:cNvPr id="36" name="Text 31"/>
          <p:cNvSpPr/>
          <p:nvPr/>
        </p:nvSpPr>
        <p:spPr>
          <a:xfrm>
            <a:off x="6510528" y="5458968"/>
            <a:ext cx="2377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6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platform capability</a:t>
            </a:r>
            <a:endParaRPr lang="en-US" sz="850" dirty="0"/>
          </a:p>
        </p:txBody>
      </p:sp>
      <p:sp>
        <p:nvSpPr>
          <p:cNvPr id="37" name="Text 32"/>
          <p:cNvSpPr/>
          <p:nvPr/>
        </p:nvSpPr>
        <p:spPr>
          <a:xfrm>
            <a:off x="9601200" y="5458968"/>
            <a:ext cx="1554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F8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fee</a:t>
            </a:r>
            <a:endParaRPr lang="en-US" sz="850" dirty="0"/>
          </a:p>
        </p:txBody>
      </p:sp>
      <p:sp>
        <p:nvSpPr>
          <p:cNvPr id="38" name="Shape 33"/>
          <p:cNvSpPr/>
          <p:nvPr/>
        </p:nvSpPr>
        <p:spPr>
          <a:xfrm>
            <a:off x="658368" y="6382512"/>
            <a:ext cx="10835640" cy="0"/>
          </a:xfrm>
          <a:prstGeom prst="line">
            <a:avLst/>
          </a:prstGeom>
          <a:noFill/>
          <a:ln w="8255">
            <a:solidFill>
              <a:srgbClr val="E6E2F2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658368" y="6464808"/>
            <a:ext cx="50292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LeadReacher + Statflo | commercial paths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228600" cy="1463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85899A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82880"/>
            <a:ext cx="11676888" cy="512064"/>
          </a:xfrm>
          <a:prstGeom prst="roundRect">
            <a:avLst>
              <a:gd name="adj" fmla="val 21429"/>
            </a:avLst>
          </a:prstGeom>
          <a:solidFill>
            <a:srgbClr val="FFFFFF">
              <a:alpha val="97000"/>
            </a:srgbClr>
          </a:solidFill>
          <a:ln w="8890">
            <a:solidFill>
              <a:srgbClr val="E6E2F2"/>
            </a:solidFill>
            <a:prstDash val="solid"/>
          </a:ln>
          <a:effectLst>
            <a:outerShdw sx="100000" sy="100000" kx="0" ky="0" algn="bl" rotWithShape="0" blurRad="3.8433669984288512e+90" dist="7.6867339968577025e+90" dir="5.9229766729020215e+106">
              <a:srgbClr val="CFC7E8">
                <a:alpha val="1.5999999999999996e+109"/>
              </a:srgbClr>
            </a:outerShdw>
          </a:effectLst>
        </p:spPr>
      </p:sp>
      <p:pic>
        <p:nvPicPr>
          <p:cNvPr id="3" name="Image 0" descr="/Users/nicol/Desktop/PROJECTS/leadreacher/apps/web/public/logo/leadreacher_logo_colored_transparent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5488" y="310896"/>
            <a:ext cx="2240280" cy="19202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464040" y="338328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170" kern="0" dirty="0">
                <a:solidFill>
                  <a:srgbClr val="5A32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| NEXT STEP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658368" y="941832"/>
            <a:ext cx="3108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A32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DECISION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58368" y="118872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1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Agree on one pilot and three inputs.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772400" y="1234440"/>
            <a:ext cx="3401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64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goal is to validate commercial value before committing to a deeper integration.</a:t>
            </a:r>
            <a:endParaRPr lang="en-US" sz="1080" dirty="0"/>
          </a:p>
        </p:txBody>
      </p:sp>
      <p:sp>
        <p:nvSpPr>
          <p:cNvPr id="8" name="Shape 5"/>
          <p:cNvSpPr/>
          <p:nvPr/>
        </p:nvSpPr>
        <p:spPr>
          <a:xfrm>
            <a:off x="822960" y="1993392"/>
            <a:ext cx="3154680" cy="3154680"/>
          </a:xfrm>
          <a:prstGeom prst="ellipse">
            <a:avLst/>
          </a:prstGeom>
          <a:solidFill>
            <a:srgbClr val="050A1F"/>
          </a:solidFill>
          <a:ln w="12700">
            <a:solidFill>
              <a:srgbClr val="050A1F"/>
            </a:solidFill>
            <a:prstDash val="solid"/>
          </a:ln>
          <a:effectLst>
            <a:outerShdw sx="100000" sy="100000" kx="0" ky="0" algn="bl" rotWithShape="0" blurRad="4.8810760880046414e+94" dist="9.762152176009283e+94" dir="3.553786003741213e+111">
              <a:srgbClr val="CFC7E8">
                <a:alpha val="1.5999999999999998e+114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1143000" y="2596896"/>
            <a:ext cx="25146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5100" dirty="0"/>
          </a:p>
        </p:txBody>
      </p:sp>
      <p:sp>
        <p:nvSpPr>
          <p:cNvPr id="10" name="Text 7"/>
          <p:cNvSpPr/>
          <p:nvPr/>
        </p:nvSpPr>
        <p:spPr>
          <a:xfrm>
            <a:off x="1143000" y="3493008"/>
            <a:ext cx="2514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spc="120" kern="0" dirty="0">
                <a:solidFill>
                  <a:srgbClr val="9F8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PILOT</a:t>
            </a:r>
            <a:endParaRPr lang="en-US" sz="920" dirty="0"/>
          </a:p>
        </p:txBody>
      </p:sp>
      <p:sp>
        <p:nvSpPr>
          <p:cNvPr id="11" name="Text 8"/>
          <p:cNvSpPr/>
          <p:nvPr/>
        </p:nvSpPr>
        <p:spPr>
          <a:xfrm>
            <a:off x="1225296" y="396849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D6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audience. One use case. Shared measurement.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572000" y="1993392"/>
            <a:ext cx="6903720" cy="932688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9525">
            <a:solidFill>
              <a:srgbClr val="D7CC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846320" y="2322576"/>
            <a:ext cx="4114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A32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5413248" y="2276856"/>
            <a:ext cx="11704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101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AUDIENCE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6784848" y="2240280"/>
            <a:ext cx="4251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4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the first approved Smart List and use case.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572000" y="3163824"/>
            <a:ext cx="6903720" cy="932688"/>
          </a:xfrm>
          <a:prstGeom prst="roundRect">
            <a:avLst>
              <a:gd name="adj" fmla="val 8824"/>
            </a:avLst>
          </a:prstGeom>
          <a:solidFill>
            <a:srgbClr val="F7F5FF"/>
          </a:solidFill>
          <a:ln w="9525">
            <a:solidFill>
              <a:srgbClr val="D7CC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846320" y="3493008"/>
            <a:ext cx="4114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A32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5413248" y="3447288"/>
            <a:ext cx="11704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101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784848" y="3410712"/>
            <a:ext cx="4251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4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API support, sandbox access and fallback options.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4572000" y="4334256"/>
            <a:ext cx="6903720" cy="932688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9525">
            <a:solidFill>
              <a:srgbClr val="D7CC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846320" y="4663440"/>
            <a:ext cx="4114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A32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5413248" y="4617720"/>
            <a:ext cx="11704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101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SUCCESS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6784848" y="4581144"/>
            <a:ext cx="4251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4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Agree on reply, opportunity and revenue measures.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4617720" y="5559552"/>
            <a:ext cx="6812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Preferred connection: Statflo partner API. Practical fallback: CSV or SFTP.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658368" y="6382512"/>
            <a:ext cx="10835640" cy="0"/>
          </a:xfrm>
          <a:prstGeom prst="line">
            <a:avLst/>
          </a:prstGeom>
          <a:noFill/>
          <a:ln w="8255">
            <a:solidFill>
              <a:srgbClr val="E6E2F2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58368" y="6464808"/>
            <a:ext cx="50292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LeadReacher + Statflo | proposed next step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228600" cy="1463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85899A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LeadReacher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CRM integration deck</dc:title>
  <dc:subject>Benefits of connecting LeadReacher with a CRM</dc:subject>
  <dc:creator>LeadReacher</dc:creator>
  <cp:lastModifiedBy>LeadReacher</cp:lastModifiedBy>
  <cp:revision>1</cp:revision>
  <dcterms:created xsi:type="dcterms:W3CDTF">2026-08-31T23:52:26Z</dcterms:created>
  <dcterms:modified xsi:type="dcterms:W3CDTF">2026-08-31T23:52:26Z</dcterms:modified>
</cp:coreProperties>
</file>