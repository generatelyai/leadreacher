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ADREACHER_LIGHT"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25400" dist="50800" dir="2700000">
              <a:srgbClr val="CFC7E8">
                <a:alpha val="16000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 OVERVIEW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76656" y="12984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× CRM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664208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CRM integration</a:t>
            </a:r>
            <a:endParaRPr lang="en-US" sz="4300" dirty="0"/>
          </a:p>
        </p:txBody>
      </p:sp>
      <p:sp>
        <p:nvSpPr>
          <p:cNvPr id="7" name="Text 4"/>
          <p:cNvSpPr/>
          <p:nvPr/>
        </p:nvSpPr>
        <p:spPr>
          <a:xfrm>
            <a:off x="658368" y="228600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5A32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deck</a:t>
            </a:r>
            <a:endParaRPr lang="en-US" sz="4300" dirty="0"/>
          </a:p>
        </p:txBody>
      </p:sp>
      <p:sp>
        <p:nvSpPr>
          <p:cNvPr id="8" name="Text 5"/>
          <p:cNvSpPr/>
          <p:nvPr/>
        </p:nvSpPr>
        <p:spPr>
          <a:xfrm>
            <a:off x="694944" y="321868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connected path from first outreach to closed opportunity.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94944" y="4224528"/>
            <a:ext cx="1627632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4315968"/>
            <a:ext cx="14081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CONTEXT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468880" y="4224528"/>
            <a:ext cx="1335024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78608" y="4315968"/>
            <a:ext cx="11155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950208" y="4224528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59936" y="4315968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CLEARER REPORTING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492240" y="1243584"/>
            <a:ext cx="4983480" cy="4526280"/>
          </a:xfrm>
          <a:prstGeom prst="roundRect">
            <a:avLst>
              <a:gd name="adj" fmla="val 3636"/>
            </a:avLst>
          </a:prstGeom>
          <a:solidFill>
            <a:srgbClr val="F7F5FF"/>
          </a:solidFill>
          <a:ln w="10160">
            <a:solidFill>
              <a:srgbClr val="D7CCFF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CFC7E8">
                <a:alpha val="1600000000"/>
              </a:srgbClr>
            </a:outerShdw>
          </a:effectLst>
        </p:spPr>
      </p:sp>
      <p:pic>
        <p:nvPicPr>
          <p:cNvPr id="16" name="Image 1" descr="/Users/nicol/Desktop/PROJECTS/leadreacher/apps/web/public/logo/leadreacher_icon_colored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50024" y="2139696"/>
            <a:ext cx="1097280" cy="10972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165592" y="2697480"/>
            <a:ext cx="1572768" cy="0"/>
          </a:xfrm>
          <a:prstGeom prst="line">
            <a:avLst/>
          </a:prstGeom>
          <a:noFill/>
          <a:ln w="22860">
            <a:solidFill>
              <a:srgbClr val="5A32ED"/>
            </a:solidFill>
            <a:prstDash val="solid"/>
            <a:headEnd type="none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9784080" y="2057400"/>
            <a:ext cx="1261872" cy="1261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32ED"/>
            </a:solidFill>
            <a:prstDash val="solid"/>
          </a:ln>
        </p:spPr>
      </p:sp>
      <p:pic>
        <p:nvPicPr>
          <p:cNvPr id="19" name="Image 2" descr="/Users/nicol/Desktop/PROJECTS/leadreacher/docs/presentations/assets/statflo-logo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93808" y="2450592"/>
            <a:ext cx="1078992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059168" y="37947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 context arrives ready to act on.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150608" y="4498848"/>
            <a:ext cx="3429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Replies, source, campaign context and next-step visibility stay together.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CRM integration deck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CFC7E8">
                <a:alpha val="160000000000000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INTEGRATION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10332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CONNECTED CUSTOMER JOURNEY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35331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connected path.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58368" y="179222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32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outreach to revenue.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059168" y="1572768"/>
            <a:ext cx="4297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CRM becomes the shared history for every conversation LeadReacher creates.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234440" y="3337560"/>
            <a:ext cx="9674352" cy="0"/>
          </a:xfrm>
          <a:prstGeom prst="line">
            <a:avLst/>
          </a:prstGeom>
          <a:noFill/>
          <a:ln w="27940">
            <a:solidFill>
              <a:srgbClr val="D7CC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852928"/>
            <a:ext cx="987552" cy="98755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32ED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CFC7E8">
                <a:alpha val="160000000000000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005840" y="3200400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409651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Qualified outreach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60120" y="4526280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creates relevant conversations with the right prospects.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26280" y="2852928"/>
            <a:ext cx="987552" cy="98755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32ED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CFC7E8">
                <a:alpha val="1.6e+24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26280" y="3200400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80560" y="409651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 context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480560" y="4526280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CRM retains who replied, why they engaged and where they came from.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46720" y="2852928"/>
            <a:ext cx="987552" cy="98755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32ED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CFC7E8">
                <a:alpha val="1.6e+29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046720" y="3200400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001000" y="409651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momentum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001000" y="4526280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follow up from a familiar workflow without losing the conversation history.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87552" y="5650992"/>
            <a:ext cx="1673352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97280" y="5742432"/>
            <a:ext cx="1453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LOST CONTEXT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480560" y="5650992"/>
            <a:ext cx="1847088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90288" y="5742432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CLEANER HANDOFFS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7982712" y="5650992"/>
            <a:ext cx="2057400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092440" y="5742432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CUSTOMER HISTORY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CRM integration benefits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CFC7E8">
                <a:alpha val="1.6e+34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INTEGRATION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10241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 FOR THE SALES TEAM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33502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More selling.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58368" y="17739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32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Less admin.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784848" y="158191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team focused on conversations and next actions, not duplicate entry.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" y="2542032"/>
            <a:ext cx="5742432" cy="3337560"/>
          </a:xfrm>
          <a:prstGeom prst="roundRect">
            <a:avLst>
              <a:gd name="adj" fmla="val 4384"/>
            </a:avLst>
          </a:prstGeom>
          <a:solidFill>
            <a:srgbClr val="FFFFFF"/>
          </a:solidFill>
          <a:ln w="10160">
            <a:solidFill>
              <a:srgbClr val="E6E2F2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CFC7E8">
                <a:alpha val="1.6e+39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87552" y="286207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CRM ACTIVITY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987552" y="3337560"/>
            <a:ext cx="566928" cy="566928"/>
          </a:xfrm>
          <a:prstGeom prst="ellipse">
            <a:avLst/>
          </a:prstGeom>
          <a:solidFill>
            <a:srgbClr val="EEE9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351129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755648" y="3300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Prospect replied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755648" y="369417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Campaign context and conversation history are attached.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87552" y="4416552"/>
            <a:ext cx="5047488" cy="0"/>
          </a:xfrm>
          <a:prstGeom prst="line">
            <a:avLst/>
          </a:prstGeom>
          <a:noFill/>
          <a:ln w="8890">
            <a:solidFill>
              <a:srgbClr val="E6E2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87552" y="4709160"/>
            <a:ext cx="8046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8F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993392" y="4681728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campaign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87552" y="5138928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8F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ACTION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993392" y="511149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up while interest is fresh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32120" y="4956048"/>
            <a:ext cx="320040" cy="32004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32120" y="5006340"/>
            <a:ext cx="320040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931152" y="2734056"/>
            <a:ext cx="228600" cy="22860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31152" y="2784348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278624" y="2724912"/>
            <a:ext cx="3675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Replies retain context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278624" y="2980944"/>
            <a:ext cx="3675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source, campaign and conversation stay connected for the rep.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931152" y="3712464"/>
            <a:ext cx="228600" cy="22860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31152" y="3762756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278624" y="3703320"/>
            <a:ext cx="3675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duplicate updates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7278624" y="3959352"/>
            <a:ext cx="3675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copying between outreach tools, notes and CRM records.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931152" y="4690872"/>
            <a:ext cx="228600" cy="22860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31152" y="4741164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278624" y="4681728"/>
            <a:ext cx="3675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follow-up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7278624" y="4937760"/>
            <a:ext cx="3675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can act from the workflow they already know and use every day.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CRM integration benefits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CFC7E8">
                <a:alpha val="1.6e+44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INTEGRATION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10332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 FOR SALES LEADERS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35331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pipeline becomes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58368" y="179222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32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easier to trust.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693408" y="1572768"/>
            <a:ext cx="4645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Outreach activity, opportunity progress and revenue context can tell one consistent story.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" y="2578608"/>
            <a:ext cx="10972800" cy="1335024"/>
          </a:xfrm>
          <a:prstGeom prst="roundRect">
            <a:avLst>
              <a:gd name="adj" fmla="val 10274"/>
            </a:avLst>
          </a:prstGeom>
          <a:solidFill>
            <a:srgbClr val="F7F5FF"/>
          </a:solidFill>
          <a:ln w="10160">
            <a:solidFill>
              <a:srgbClr val="D7CC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0120" y="2944368"/>
            <a:ext cx="512064" cy="51206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5A32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311810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673352" y="30906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70" kern="0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OUTREACH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953512" y="3200400"/>
            <a:ext cx="530352" cy="0"/>
          </a:xfrm>
          <a:prstGeom prst="line">
            <a:avLst/>
          </a:prstGeom>
          <a:noFill/>
          <a:ln w="15240">
            <a:solidFill>
              <a:srgbClr val="D7CC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657600" y="2944368"/>
            <a:ext cx="512064" cy="51206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5A32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0" y="311810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370832" y="30906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70" kern="0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50992" y="3200400"/>
            <a:ext cx="530352" cy="0"/>
          </a:xfrm>
          <a:prstGeom prst="line">
            <a:avLst/>
          </a:prstGeom>
          <a:noFill/>
          <a:ln w="15240">
            <a:solidFill>
              <a:srgbClr val="D7CCF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355080" y="2944368"/>
            <a:ext cx="512064" cy="51206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5A32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311810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068312" y="30906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70" kern="0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OPPORTUNITY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348472" y="3200400"/>
            <a:ext cx="530352" cy="0"/>
          </a:xfrm>
          <a:prstGeom prst="line">
            <a:avLst/>
          </a:prstGeom>
          <a:noFill/>
          <a:ln w="15240">
            <a:solidFill>
              <a:srgbClr val="D7CCF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9052560" y="2944368"/>
            <a:ext cx="512064" cy="512064"/>
          </a:xfrm>
          <a:prstGeom prst="ellipse">
            <a:avLst/>
          </a:prstGeom>
          <a:solidFill>
            <a:srgbClr val="EAF8F0"/>
          </a:solidFill>
          <a:ln w="13970">
            <a:solidFill>
              <a:srgbClr val="15995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52560" y="311810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765792" y="30906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70" kern="0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41248" y="4453128"/>
            <a:ext cx="228600" cy="22860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41248" y="450342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88720" y="4443984"/>
            <a:ext cx="29626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Campaign-level attribution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1188720" y="4700016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which outreach creates replies, opportunities and commercial momentum.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462272" y="4453128"/>
            <a:ext cx="228600" cy="22860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462272" y="450342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809744" y="4443984"/>
            <a:ext cx="29626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Cleaner customer records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4809744" y="4700016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teams a more complete history with fewer gaps and fewer duplicates.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083296" y="4453128"/>
            <a:ext cx="228600" cy="228600"/>
          </a:xfrm>
          <a:prstGeom prst="ellipse">
            <a:avLst/>
          </a:prstGeom>
          <a:solidFill>
            <a:srgbClr val="EAF8F0"/>
          </a:solidFill>
          <a:ln w="12700">
            <a:solidFill>
              <a:srgbClr val="15995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83296" y="450342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99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430768" y="4443984"/>
            <a:ext cx="29626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visibility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430768" y="4700016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A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and leadership can work from the same view of pipeline progress.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 CRM integration benefits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icol/Desktop/PROJECTS/leadreacher/apps/web/public/logo/leadreacher_logo_white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57200"/>
            <a:ext cx="2240280" cy="1920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217152" y="484632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BCA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INTEGRATION DECK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713232" y="1417320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LeadReacher starts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713232" y="1993392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conversation.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713232" y="2688336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7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CRM carries it forward.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49808" y="369417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C7C9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connected acquisition workflow, built around the tools your team already uses.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49808" y="4773168"/>
            <a:ext cx="2578608" cy="0"/>
          </a:xfrm>
          <a:prstGeom prst="line">
            <a:avLst/>
          </a:prstGeom>
          <a:noFill/>
          <a:ln w="12700">
            <a:solidFill>
              <a:srgbClr val="5F4BB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047488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Connected context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49808" y="5449824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EB2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customer history intact.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886200" y="4773168"/>
            <a:ext cx="2578608" cy="0"/>
          </a:xfrm>
          <a:prstGeom prst="line">
            <a:avLst/>
          </a:prstGeom>
          <a:noFill/>
          <a:ln w="12700">
            <a:solidFill>
              <a:srgbClr val="5F4B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86200" y="5047488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Faster action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886200" y="5449824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EB2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from reply to follow-up sooner.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022592" y="4773168"/>
            <a:ext cx="2578608" cy="0"/>
          </a:xfrm>
          <a:prstGeom prst="line">
            <a:avLst/>
          </a:prstGeom>
          <a:noFill/>
          <a:ln w="12700">
            <a:solidFill>
              <a:srgbClr val="5F4B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22592" y="5047488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Clearer reporting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022592" y="5449824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EB2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outreach impact through the pipeline.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537192" y="61447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CA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leadreacher.com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LeadReacher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 integration deck</dc:title>
  <dc:subject>Benefits of connecting LeadReacher with a CRM</dc:subject>
  <dc:creator>LeadReacher</dc:creator>
  <cp:lastModifiedBy>LeadReacher</cp:lastModifiedBy>
  <cp:revision>1</cp:revision>
  <dcterms:created xsi:type="dcterms:W3CDTF">2026-08-31T17:43:33Z</dcterms:created>
  <dcterms:modified xsi:type="dcterms:W3CDTF">2026-08-31T17:43:33Z</dcterms:modified>
</cp:coreProperties>
</file>