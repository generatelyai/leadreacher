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REACHER_LIGHT">
    <p:bg>
      <p:bgPr>
        <a:solidFill>
          <a:srgbClr val="FC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167688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7000"/>
            </a:srgbClr>
          </a:solidFill>
          <a:ln w="8890">
            <a:solidFill>
              <a:srgbClr val="E6E2F2"/>
            </a:solidFill>
            <a:prstDash val="solid"/>
          </a:ln>
          <a:effectLst>
            <a:outerShdw sx="100000" sy="100000" kx="0" ky="0" algn="bl" rotWithShape="0" blurRad="25400" dist="50800" dir="2700000">
              <a:srgbClr val="CFC7E8">
                <a:alpha val="16000"/>
              </a:srgbClr>
            </a:outerShdw>
          </a:effectLst>
        </p:spPr>
      </p:sp>
      <p:pic>
        <p:nvPicPr>
          <p:cNvPr id="3" name="Image 0" descr="/Users/nicol/Desktop/PROJECTS/leadreacher/apps/web/public/logo/leadreacher_logo_colored_transpar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310896"/>
            <a:ext cx="2240280" cy="192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3383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7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STATFLO PARTNERSHIP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76656" y="12984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664208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outreach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658368" y="2286000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694944" y="3218688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approved Statflo audiences into personalized, reviewable outreach at scale.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94944" y="4224528"/>
            <a:ext cx="1243584" cy="329184"/>
          </a:xfrm>
          <a:prstGeom prst="roundRect">
            <a:avLst>
              <a:gd name="adj" fmla="val 22222"/>
            </a:avLst>
          </a:prstGeom>
          <a:solidFill>
            <a:srgbClr val="F7F5FF"/>
          </a:solidFill>
          <a:ln w="8890">
            <a:solidFill>
              <a:srgbClr val="D7C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4315968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LISTS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4224528"/>
            <a:ext cx="1773936" cy="329184"/>
          </a:xfrm>
          <a:prstGeom prst="roundRect">
            <a:avLst>
              <a:gd name="adj" fmla="val 22222"/>
            </a:avLst>
          </a:prstGeom>
          <a:solidFill>
            <a:srgbClr val="F7F5FF"/>
          </a:solidFill>
          <a:ln w="8890">
            <a:solidFill>
              <a:srgbClr val="D7CC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12848" y="431596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VIDEO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041648" y="4224528"/>
            <a:ext cx="1719072" cy="329184"/>
          </a:xfrm>
          <a:prstGeom prst="roundRect">
            <a:avLst>
              <a:gd name="adj" fmla="val 22222"/>
            </a:avLst>
          </a:prstGeom>
          <a:solidFill>
            <a:srgbClr val="F7F5FF"/>
          </a:solidFill>
          <a:ln w="8890">
            <a:solidFill>
              <a:srgbClr val="D7C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51376" y="4315968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REPORTING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92240" y="1243584"/>
            <a:ext cx="4983480" cy="4526280"/>
          </a:xfrm>
          <a:prstGeom prst="roundRect">
            <a:avLst>
              <a:gd name="adj" fmla="val 3636"/>
            </a:avLst>
          </a:prstGeom>
          <a:solidFill>
            <a:srgbClr val="F7F5FF"/>
          </a:solidFill>
          <a:ln w="10160">
            <a:solidFill>
              <a:srgbClr val="D7CCFF"/>
            </a:solidFill>
            <a:prstDash val="solid"/>
          </a:ln>
          <a:effectLst>
            <a:outerShdw sx="100000" sy="100000" kx="0" ky="0" algn="bl" rotWithShape="0" blurRad="322580000" dist="645160000" dir="162000000000">
              <a:srgbClr val="CFC7E8">
                <a:alpha val="1600000000"/>
              </a:srgbClr>
            </a:outerShdw>
          </a:effectLst>
        </p:spPr>
      </p:sp>
      <p:pic>
        <p:nvPicPr>
          <p:cNvPr id="16" name="Image 1" descr="/Users/nicol/Desktop/PROJECTS/leadreacher/apps/web/public/logo/leadreacher_icon_colored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50024" y="2139696"/>
            <a:ext cx="1097280" cy="10972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65592" y="2697480"/>
            <a:ext cx="1572768" cy="0"/>
          </a:xfrm>
          <a:prstGeom prst="line">
            <a:avLst/>
          </a:prstGeom>
          <a:noFill/>
          <a:ln w="22860">
            <a:solidFill>
              <a:srgbClr val="5A32ED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9784080" y="2057400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A32ED"/>
            </a:solidFill>
            <a:prstDash val="solid"/>
          </a:ln>
        </p:spPr>
      </p:sp>
      <p:pic>
        <p:nvPicPr>
          <p:cNvPr id="19" name="Image 2" descr="/Users/nicol/Desktop/PROJECTS/leadreacher/docs/presentations/assets/statflo-logo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3808" y="2450592"/>
            <a:ext cx="1078992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59168" y="379476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platform does what it does best.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7150608" y="4498848"/>
            <a:ext cx="3429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Statflo owns customer records and compliant conversations. LeadReacher handles audience intelligence, personalized outreach and campaign reporting.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58368" y="6382512"/>
            <a:ext cx="10835640" cy="0"/>
          </a:xfrm>
          <a:prstGeom prst="line">
            <a:avLst/>
          </a:prstGeom>
          <a:noFill/>
          <a:ln w="8255">
            <a:solidFill>
              <a:srgbClr val="E6E2F2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58368" y="6464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 integration proposal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167688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7000"/>
            </a:srgbClr>
          </a:solidFill>
          <a:ln w="8890">
            <a:solidFill>
              <a:srgbClr val="E6E2F2"/>
            </a:solidFill>
            <a:prstDash val="solid"/>
          </a:ln>
          <a:effectLst>
            <a:outerShdw sx="100000" sy="100000" kx="0" ky="0" algn="bl" rotWithShape="0" blurRad="4096766000000" dist="8193532000000" dir="9720000000000000">
              <a:srgbClr val="CFC7E8">
                <a:alpha val="160000000000000"/>
              </a:srgbClr>
            </a:outerShdw>
          </a:effectLst>
        </p:spPr>
      </p:sp>
      <p:pic>
        <p:nvPicPr>
          <p:cNvPr id="3" name="Image 0" descr="/Users/nicol/Desktop/PROJECTS/leadreacher/apps/web/public/logo/leadreacher_logo_colored_transpar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310896"/>
            <a:ext cx="2240280" cy="192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3383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7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PROPOSED WORKFLOW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418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STATFLO INTEGRATION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18872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approved Smart List.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8368" y="185623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pilot that adds LeadReacher audience intelligence and personalization without changing who owns the customer relationship.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658368" y="2752344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0263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2743200"/>
            <a:ext cx="4270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Statflo remains the system of record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2999232"/>
            <a:ext cx="4270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records, assignments and compliant conversations stay in Statflo.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3739896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7901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3730752"/>
            <a:ext cx="4270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prepares the outreach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3986784"/>
            <a:ext cx="4270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audiences, personalized messaging and video are prepared for review.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4727448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77774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4718304"/>
            <a:ext cx="4270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comes before launch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4974336"/>
            <a:ext cx="4270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prospect outreach remains subject to consent, channel and jurisdictional rules.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779008" y="1298448"/>
            <a:ext cx="5669280" cy="4800600"/>
          </a:xfrm>
          <a:prstGeom prst="roundRect">
            <a:avLst>
              <a:gd name="adj" fmla="val 2857"/>
            </a:avLst>
          </a:prstGeom>
          <a:solidFill>
            <a:srgbClr val="F7F5FF"/>
          </a:solidFill>
          <a:ln w="10160">
            <a:solidFill>
              <a:srgbClr val="D7CCFF"/>
            </a:solidFill>
            <a:prstDash val="solid"/>
          </a:ln>
          <a:effectLst>
            <a:outerShdw sx="100000" sy="100000" kx="0" ky="0" algn="bl" rotWithShape="0" blurRad="52028928200000000" dist="104057856400000000" dir="583200000000000000000">
              <a:srgbClr val="CFC7E8">
                <a:alpha val="1600000000000000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44768" y="163677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 FLOW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144768" y="199339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32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44768" y="21396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6839712" y="200253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Statflo Smart List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6839712" y="224028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Customer-approved starting audience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6364224" y="2468880"/>
            <a:ext cx="0" cy="256032"/>
          </a:xfrm>
          <a:prstGeom prst="line">
            <a:avLst/>
          </a:prstGeom>
          <a:noFill/>
          <a:ln w="15240">
            <a:solidFill>
              <a:srgbClr val="D7CCF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6144768" y="276148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32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44768" y="290779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6839712" y="277063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preparation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6839712" y="300837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Audience, messaging and personalized video</a:t>
            </a:r>
            <a:endParaRPr lang="en-US" sz="830" dirty="0"/>
          </a:p>
        </p:txBody>
      </p:sp>
      <p:sp>
        <p:nvSpPr>
          <p:cNvPr id="31" name="Shape 28"/>
          <p:cNvSpPr/>
          <p:nvPr/>
        </p:nvSpPr>
        <p:spPr>
          <a:xfrm>
            <a:off x="6364224" y="3236976"/>
            <a:ext cx="0" cy="256032"/>
          </a:xfrm>
          <a:prstGeom prst="line">
            <a:avLst/>
          </a:prstGeom>
          <a:noFill/>
          <a:ln w="15240">
            <a:solidFill>
              <a:srgbClr val="D7CCFF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144768" y="3529584"/>
            <a:ext cx="438912" cy="438912"/>
          </a:xfrm>
          <a:prstGeom prst="ellipse">
            <a:avLst/>
          </a:prstGeom>
          <a:solidFill>
            <a:srgbClr val="5A32ED"/>
          </a:solidFill>
          <a:ln w="12700">
            <a:solidFill>
              <a:srgbClr val="5A32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44768" y="3675888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6839712" y="353872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review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6839712" y="3776472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content, audience and eligible channels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6364224" y="4005072"/>
            <a:ext cx="0" cy="256032"/>
          </a:xfrm>
          <a:prstGeom prst="line">
            <a:avLst/>
          </a:prstGeom>
          <a:noFill/>
          <a:ln w="15240">
            <a:solidFill>
              <a:srgbClr val="D7CCFF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144768" y="4297680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32E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44768" y="444398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6839712" y="430682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delivery</a:t>
            </a:r>
            <a:endParaRPr lang="en-US" sz="1080" dirty="0"/>
          </a:p>
        </p:txBody>
      </p:sp>
      <p:sp>
        <p:nvSpPr>
          <p:cNvPr id="40" name="Text 37"/>
          <p:cNvSpPr/>
          <p:nvPr/>
        </p:nvSpPr>
        <p:spPr>
          <a:xfrm>
            <a:off x="6839712" y="454456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or macro-level outreach</a:t>
            </a:r>
            <a:endParaRPr lang="en-US" sz="830" dirty="0"/>
          </a:p>
        </p:txBody>
      </p:sp>
      <p:sp>
        <p:nvSpPr>
          <p:cNvPr id="41" name="Shape 38"/>
          <p:cNvSpPr/>
          <p:nvPr/>
        </p:nvSpPr>
        <p:spPr>
          <a:xfrm>
            <a:off x="6364224" y="4773168"/>
            <a:ext cx="0" cy="256032"/>
          </a:xfrm>
          <a:prstGeom prst="line">
            <a:avLst/>
          </a:prstGeom>
          <a:noFill/>
          <a:ln w="15240">
            <a:solidFill>
              <a:srgbClr val="D7CCFF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6144768" y="5065776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A32E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44768" y="521208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6839712" y="507492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reporting</a:t>
            </a:r>
            <a:endParaRPr lang="en-US" sz="1080" dirty="0"/>
          </a:p>
        </p:txBody>
      </p:sp>
      <p:sp>
        <p:nvSpPr>
          <p:cNvPr id="45" name="Text 42"/>
          <p:cNvSpPr/>
          <p:nvPr/>
        </p:nvSpPr>
        <p:spPr>
          <a:xfrm>
            <a:off x="6839712" y="5312664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and opt-outs returned to Statflo</a:t>
            </a:r>
            <a:endParaRPr lang="en-US" sz="830" dirty="0"/>
          </a:p>
        </p:txBody>
      </p:sp>
      <p:sp>
        <p:nvSpPr>
          <p:cNvPr id="46" name="Shape 43"/>
          <p:cNvSpPr/>
          <p:nvPr/>
        </p:nvSpPr>
        <p:spPr>
          <a:xfrm>
            <a:off x="658368" y="6382512"/>
            <a:ext cx="10835640" cy="0"/>
          </a:xfrm>
          <a:prstGeom prst="line">
            <a:avLst/>
          </a:prstGeom>
          <a:noFill/>
          <a:ln w="8255">
            <a:solidFill>
              <a:srgbClr val="E6E2F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6464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 | proposed Smart List pilot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167688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7000"/>
            </a:srgbClr>
          </a:solidFill>
          <a:ln w="8890">
            <a:solidFill>
              <a:srgbClr val="E6E2F2"/>
            </a:solidFill>
            <a:prstDash val="solid"/>
          </a:ln>
          <a:effectLst>
            <a:outerShdw sx="100000" sy="100000" kx="0" ky="0" algn="bl" rotWithShape="0" blurRad="660767388140000000000" dist="1.32153477628e+21" dir="3.4992e+25">
              <a:srgbClr val="CFC7E8">
                <a:alpha val="1.6e+24"/>
              </a:srgbClr>
            </a:outerShdw>
          </a:effectLst>
        </p:spPr>
      </p:sp>
      <p:pic>
        <p:nvPicPr>
          <p:cNvPr id="3" name="Image 0" descr="/Users/nicol/Desktop/PROJECTS/leadreacher/apps/web/public/logo/leadreacher_logo_colored_transpar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310896"/>
            <a:ext cx="2240280" cy="192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3383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7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CURRENT CAPABILITY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418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LEADREACHER PRODUCT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18872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operations already exist.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8368" y="187452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already supports the campaign workflow that would power the proposed Statflo integration.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658368" y="2770632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2092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2761488"/>
            <a:ext cx="4178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and review campaigns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3017520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and readiness checks keep the work visible before launch.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3758184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80847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3749040"/>
            <a:ext cx="4178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outreach channels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4005072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can be matched to the audience and eligible channel.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4745736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79602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4736592"/>
            <a:ext cx="4178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campaign outcomes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4992624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messages, replies and meetings stay connected to the campaign.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50992" y="1810512"/>
            <a:ext cx="5623560" cy="3438144"/>
          </a:xfrm>
          <a:prstGeom prst="roundRect">
            <a:avLst>
              <a:gd name="adj" fmla="val 2926"/>
            </a:avLst>
          </a:prstGeom>
          <a:solidFill>
            <a:srgbClr val="FFFFFF"/>
          </a:solidFill>
          <a:ln w="10160">
            <a:solidFill>
              <a:srgbClr val="E6E2F2"/>
            </a:solidFill>
            <a:prstDash val="solid"/>
          </a:ln>
          <a:effectLst>
            <a:outerShdw sx="100000" sy="100000" kx="0" ky="0" algn="bl" rotWithShape="0" blurRad="8.391745829378e+24" dist="1.6783491658756e+25" dir="2.09952e+30">
              <a:srgbClr val="CFC7E8">
                <a:alpha val="1.6e+29"/>
              </a:srgbClr>
            </a:outerShdw>
          </a:effectLst>
        </p:spPr>
      </p:sp>
      <p:pic>
        <p:nvPicPr>
          <p:cNvPr id="21" name="Image 1" descr="/Users/nicol/Desktop/PROJECTS/leadreacher/docs/presentations/assets/dashboard-campaigns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883664"/>
            <a:ext cx="5477256" cy="308152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479792" y="5321808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F7F5FF"/>
          </a:solidFill>
          <a:ln w="8890">
            <a:solidFill>
              <a:srgbClr val="D7CC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89520" y="541324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 SCREEN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961888" y="571500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Statflo Smart List connection is proposed. The campaign controls shown here are available today.</a:t>
            </a:r>
            <a:endParaRPr lang="en-US" sz="810" dirty="0"/>
          </a:p>
        </p:txBody>
      </p:sp>
      <p:sp>
        <p:nvSpPr>
          <p:cNvPr id="25" name="Shape 21"/>
          <p:cNvSpPr/>
          <p:nvPr/>
        </p:nvSpPr>
        <p:spPr>
          <a:xfrm>
            <a:off x="658368" y="6382512"/>
            <a:ext cx="10835640" cy="0"/>
          </a:xfrm>
          <a:prstGeom prst="line">
            <a:avLst/>
          </a:prstGeom>
          <a:noFill/>
          <a:ln w="8255">
            <a:solidFill>
              <a:srgbClr val="E6E2F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6464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 | existing campaign capability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167688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7000"/>
            </a:srgbClr>
          </a:solidFill>
          <a:ln w="8890">
            <a:solidFill>
              <a:srgbClr val="E6E2F2"/>
            </a:solidFill>
            <a:prstDash val="solid"/>
          </a:ln>
          <a:effectLst>
            <a:outerShdw sx="100000" sy="100000" kx="0" ky="0" algn="bl" rotWithShape="0" blurRad="1.0657517203310059e+29" dist="2.1315034406620118e+29" dir="1.259712e+35">
              <a:srgbClr val="CFC7E8">
                <a:alpha val="1.6e+34"/>
              </a:srgbClr>
            </a:outerShdw>
          </a:effectLst>
        </p:spPr>
      </p:sp>
      <p:pic>
        <p:nvPicPr>
          <p:cNvPr id="3" name="Image 0" descr="/Users/nicol/Desktop/PROJECTS/leadreacher/apps/web/public/logo/leadreacher_logo_colored_transpar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310896"/>
            <a:ext cx="2240280" cy="192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3383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7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CURRENT CAPABILITY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418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LEADREACHER PRODUCT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18872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management already exists.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58368" y="190195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can surface replies with the person, channel and campaign context needed for follow-up.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658368" y="2788920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8392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5840" y="2779776"/>
            <a:ext cx="4178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Replies stay visible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005840" y="3035808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can see who replied and which campaign started the conversation.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3776472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382676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05840" y="3767328"/>
            <a:ext cx="4178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stays attached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005840" y="4023360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contact, channel and message history remain together.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4764024"/>
            <a:ext cx="228600" cy="228600"/>
          </a:xfrm>
          <a:prstGeom prst="ellipse">
            <a:avLst/>
          </a:prstGeom>
          <a:solidFill>
            <a:srgbClr val="EAF8F0"/>
          </a:solidFill>
          <a:ln w="12700">
            <a:solidFill>
              <a:srgbClr val="15995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48143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99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05840" y="4754880"/>
            <a:ext cx="417880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Statflo owns the customer conversation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5840" y="5010912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proposed integration would return relevant activity to Statflo for compliant follow-up.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650992" y="1810512"/>
            <a:ext cx="5623560" cy="3438144"/>
          </a:xfrm>
          <a:prstGeom prst="roundRect">
            <a:avLst>
              <a:gd name="adj" fmla="val 2926"/>
            </a:avLst>
          </a:prstGeom>
          <a:solidFill>
            <a:srgbClr val="FFFFFF"/>
          </a:solidFill>
          <a:ln w="10160">
            <a:solidFill>
              <a:srgbClr val="E6E2F2"/>
            </a:solidFill>
            <a:prstDash val="solid"/>
          </a:ln>
          <a:effectLst>
            <a:outerShdw sx="100000" sy="100000" kx="0" ky="0" algn="bl" rotWithShape="0" blurRad="1.3535046848203775e+33" dist="2.707009369640755e+33" dir="7.558272e+39">
              <a:srgbClr val="CFC7E8">
                <a:alpha val="1.6e+39"/>
              </a:srgbClr>
            </a:outerShdw>
          </a:effectLst>
        </p:spPr>
      </p:sp>
      <p:pic>
        <p:nvPicPr>
          <p:cNvPr id="21" name="Image 1" descr="/Users/nicol/Desktop/PROJECTS/leadreacher/docs/presentations/assets/dashboard-messages-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883664"/>
            <a:ext cx="5477256" cy="308152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7479792" y="5321808"/>
            <a:ext cx="1901952" cy="329184"/>
          </a:xfrm>
          <a:prstGeom prst="roundRect">
            <a:avLst>
              <a:gd name="adj" fmla="val 22222"/>
            </a:avLst>
          </a:prstGeom>
          <a:solidFill>
            <a:srgbClr val="F7F5FF"/>
          </a:solidFill>
          <a:ln w="8890">
            <a:solidFill>
              <a:srgbClr val="D7CC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89520" y="5413248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PRODUCT SCREEN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961888" y="5715000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video inside Statflo is proposed. The conversation view shown here is available today.</a:t>
            </a:r>
            <a:endParaRPr lang="en-US" sz="810" dirty="0"/>
          </a:p>
        </p:txBody>
      </p:sp>
      <p:sp>
        <p:nvSpPr>
          <p:cNvPr id="25" name="Shape 21"/>
          <p:cNvSpPr/>
          <p:nvPr/>
        </p:nvSpPr>
        <p:spPr>
          <a:xfrm>
            <a:off x="658368" y="6382512"/>
            <a:ext cx="10835640" cy="0"/>
          </a:xfrm>
          <a:prstGeom prst="line">
            <a:avLst/>
          </a:prstGeom>
          <a:noFill/>
          <a:ln w="8255">
            <a:solidFill>
              <a:srgbClr val="E6E2F2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" y="6464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 | existing conversation capability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167688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7000"/>
            </a:srgbClr>
          </a:solidFill>
          <a:ln w="8890">
            <a:solidFill>
              <a:srgbClr val="E6E2F2"/>
            </a:solidFill>
            <a:prstDash val="solid"/>
          </a:ln>
          <a:effectLst>
            <a:outerShdw sx="100000" sy="100000" kx="0" ky="0" algn="bl" rotWithShape="0" blurRad="1.7189509497218795e+37" dist="3.437901899443759e+37" dir="4.5349632000000006e+44">
              <a:srgbClr val="CFC7E8">
                <a:alpha val="1.6e+44"/>
              </a:srgbClr>
            </a:outerShdw>
          </a:effectLst>
        </p:spPr>
      </p:sp>
      <p:pic>
        <p:nvPicPr>
          <p:cNvPr id="3" name="Image 0" descr="/Users/nicol/Desktop/PROJECTS/leadreacher/apps/web/public/logo/leadreacher_logo_colored_transpar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310896"/>
            <a:ext cx="2240280" cy="192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3383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7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BUSINESS MODELS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41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START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18872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integrate.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699248" y="1225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options add differentiated outreach capability while keeping Statflo at the centre of the customer relationship.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1874520"/>
            <a:ext cx="5285232" cy="4123944"/>
          </a:xfrm>
          <a:prstGeom prst="roundRect">
            <a:avLst>
              <a:gd name="adj" fmla="val 3104"/>
            </a:avLst>
          </a:prstGeom>
          <a:solidFill>
            <a:srgbClr val="050A1F"/>
          </a:solidFill>
          <a:ln w="11430">
            <a:solidFill>
              <a:srgbClr val="050A1F"/>
            </a:solidFill>
            <a:prstDash val="solid"/>
          </a:ln>
          <a:effectLst>
            <a:outerShdw sx="100000" sy="100000" kx="0" ky="0" algn="bl" rotWithShape="0" blurRad="2.183067706146787e+41" dist="4.366135412293574e+41" dir="2.72097792e+49">
              <a:srgbClr val="CFC7E8">
                <a:alpha val="1.6e+49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87552" y="221284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9F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987552" y="2532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outreach module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87552" y="29718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9A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 outreach engine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987552" y="34107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6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native LeadReacher module inside Statflo for Smart Lists, audience expansion, personalized video, bulk campaigns and reporting.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87552" y="4489704"/>
            <a:ext cx="4572000" cy="0"/>
          </a:xfrm>
          <a:prstGeom prst="line">
            <a:avLst/>
          </a:prstGeom>
          <a:noFill/>
          <a:ln w="8890">
            <a:solidFill>
              <a:srgbClr val="282E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47548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platform-wide capability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87552" y="52669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enterprise fee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36208" y="1874520"/>
            <a:ext cx="5285232" cy="4123944"/>
          </a:xfrm>
          <a:prstGeom prst="roundRect">
            <a:avLst>
              <a:gd name="adj" fmla="val 3104"/>
            </a:avLst>
          </a:prstGeom>
          <a:solidFill>
            <a:srgbClr val="F7F5FF"/>
          </a:solidFill>
          <a:ln w="11430">
            <a:solidFill>
              <a:srgbClr val="D7CCFF"/>
            </a:solidFill>
            <a:prstDash val="solid"/>
          </a:ln>
          <a:effectLst>
            <a:outerShdw sx="100000" sy="100000" kx="0" ky="0" algn="bl" rotWithShape="0" blurRad="2.7724959868064195e+45" dist="5.544991973612839e+45" dir="1.6325867520000003e+54">
              <a:srgbClr val="CFC7E8">
                <a:alpha val="1.6e+54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565392" y="221284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565392" y="2532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contact channel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65392" y="2971800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utility layer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6565392" y="341071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Outreach action on each Statflo contact for advanced single-contact messaging and video, without bulk audience tools.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65392" y="4489704"/>
            <a:ext cx="4572000" cy="0"/>
          </a:xfrm>
          <a:prstGeom prst="line">
            <a:avLst/>
          </a:prstGeom>
          <a:noFill/>
          <a:ln w="8890">
            <a:solidFill>
              <a:srgbClr val="D7CC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65392" y="47548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a fast, low-friction launch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65392" y="5266944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 or pay as you go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8368" y="6382512"/>
            <a:ext cx="10835640" cy="0"/>
          </a:xfrm>
          <a:prstGeom prst="line">
            <a:avLst/>
          </a:prstGeom>
          <a:noFill/>
          <a:ln w="8255">
            <a:solidFill>
              <a:srgbClr val="E6E2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6464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 | integration models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82880"/>
            <a:ext cx="11676888" cy="512064"/>
          </a:xfrm>
          <a:prstGeom prst="roundRect">
            <a:avLst>
              <a:gd name="adj" fmla="val 21429"/>
            </a:avLst>
          </a:prstGeom>
          <a:solidFill>
            <a:srgbClr val="FFFFFF">
              <a:alpha val="97000"/>
            </a:srgbClr>
          </a:solidFill>
          <a:ln w="8890">
            <a:solidFill>
              <a:srgbClr val="E6E2F2"/>
            </a:solidFill>
            <a:prstDash val="solid"/>
          </a:ln>
          <a:effectLst>
            <a:outerShdw sx="100000" sy="100000" kx="0" ky="0" algn="bl" rotWithShape="0" blurRad="3.5210699032441527e+49" dist="7.042139806488305e+49" dir="9.795520512000002e+58">
              <a:srgbClr val="CFC7E8">
                <a:alpha val="1.6e+59"/>
              </a:srgbClr>
            </a:outerShdw>
          </a:effectLst>
        </p:spPr>
      </p:sp>
      <p:pic>
        <p:nvPicPr>
          <p:cNvPr id="3" name="Image 0" descr="/Users/nicol/Desktop/PROJECTS/leadreacher/apps/web/public/logo/leadreacher_logo_colored_transparen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488" y="310896"/>
            <a:ext cx="2240280" cy="192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464040" y="33832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7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RECOMMENDED PILOT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58368" y="9418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PROVE VALUE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18872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Smart List pilot.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699248" y="12252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controlled first step that tests audience quality, personalization, approvals and reporting before a deeper rollout.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2075688"/>
            <a:ext cx="2487168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0160">
            <a:solidFill>
              <a:srgbClr val="E6E2F2"/>
            </a:solidFill>
            <a:prstDash val="solid"/>
          </a:ln>
          <a:effectLst>
            <a:outerShdw sx="100000" sy="100000" kx="0" ky="0" algn="bl" rotWithShape="0" blurRad="4.471758777120074e+53" dist="8.943517554240149e+53" dir="5.877312307200001e+63">
              <a:srgbClr val="CFC7E8">
                <a:alpha val="1.5999999999999998e+64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2350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77824" y="2670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Smart List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" y="318211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Statflo provides a customer-approved audience.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3182112" y="3017520"/>
            <a:ext cx="219456" cy="0"/>
          </a:xfrm>
          <a:prstGeom prst="line">
            <a:avLst/>
          </a:prstGeom>
          <a:noFill/>
          <a:ln w="12700">
            <a:solidFill>
              <a:srgbClr val="5A32E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456432" y="2075688"/>
            <a:ext cx="2487168" cy="1920240"/>
          </a:xfrm>
          <a:prstGeom prst="roundRect">
            <a:avLst>
              <a:gd name="adj" fmla="val 5238"/>
            </a:avLst>
          </a:prstGeom>
          <a:solidFill>
            <a:srgbClr val="050A1F"/>
          </a:solidFill>
          <a:ln w="10160">
            <a:solidFill>
              <a:srgbClr val="050A1F"/>
            </a:solidFill>
            <a:prstDash val="solid"/>
          </a:ln>
          <a:effectLst>
            <a:outerShdw sx="100000" sy="100000" kx="0" ky="0" algn="bl" rotWithShape="0" blurRad="5.679133646942494e+57" dist="1.1358267293884988e+58" dir="3.526387384320001e+68">
              <a:srgbClr val="CFC7E8">
                <a:alpha val="1.5999999999999997e+69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675888" y="2350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8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75888" y="2670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campaign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75888" y="318211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6D9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prepares messaging and video.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5980176" y="3017520"/>
            <a:ext cx="219456" cy="0"/>
          </a:xfrm>
          <a:prstGeom prst="line">
            <a:avLst/>
          </a:prstGeom>
          <a:noFill/>
          <a:ln w="12700">
            <a:solidFill>
              <a:srgbClr val="5A32E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254496" y="2075688"/>
            <a:ext cx="2487168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0160">
            <a:solidFill>
              <a:srgbClr val="E6E2F2"/>
            </a:solidFill>
            <a:prstDash val="solid"/>
          </a:ln>
          <a:effectLst>
            <a:outerShdw sx="100000" sy="100000" kx="0" ky="0" algn="bl" rotWithShape="0" blurRad="7.212499731616968e+61" dist="1.4424999463233936e+62" dir="2.1158324305920003e+73">
              <a:srgbClr val="CFC7E8">
                <a:alpha val="1.5999999999999997e+74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73952" y="2350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473952" y="2670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before launch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73952" y="318211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approves content, audience and channels.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778240" y="3017520"/>
            <a:ext cx="219456" cy="0"/>
          </a:xfrm>
          <a:prstGeom prst="line">
            <a:avLst/>
          </a:prstGeom>
          <a:noFill/>
          <a:ln w="12700">
            <a:solidFill>
              <a:srgbClr val="5A32E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52560" y="2075688"/>
            <a:ext cx="2487168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0160">
            <a:solidFill>
              <a:srgbClr val="E6E2F2"/>
            </a:solidFill>
            <a:prstDash val="solid"/>
          </a:ln>
          <a:effectLst>
            <a:outerShdw sx="100000" sy="100000" kx="0" ky="0" algn="bl" rotWithShape="0" blurRad="9.15987465915355e+65" dist="1.83197493183071e+66" dir="1.2694994583552002e+78">
              <a:srgbClr val="CFC7E8">
                <a:alpha val="1.5999999999999997e+79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272016" y="23500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9272016" y="2670048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returned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272016" y="3182112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opt-outs come back for combined reporting.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658368" y="4389120"/>
            <a:ext cx="10972800" cy="1325880"/>
          </a:xfrm>
          <a:prstGeom prst="roundRect">
            <a:avLst>
              <a:gd name="adj" fmla="val 7586"/>
            </a:avLst>
          </a:prstGeom>
          <a:solidFill>
            <a:srgbClr val="F7F5FF"/>
          </a:solidFill>
          <a:ln w="10160">
            <a:solidFill>
              <a:srgbClr val="D7CC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2688" y="4672584"/>
            <a:ext cx="2103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spc="110" kern="0" dirty="0">
                <a:solidFill>
                  <a:srgbClr val="5A32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LONG-TERM CONNECTION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932688" y="49743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0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Statflo’s partner API where available, with CSV or SFTP as a practical fallback.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6967728" y="469087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6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support for contacts, Smart Lists, campaigns, rep assignments, opt-outs, conversation events and deep links. Needed: sandbox, API and webhook documentation, rate limits and data-retention requirements.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658368" y="6382512"/>
            <a:ext cx="10835640" cy="0"/>
          </a:xfrm>
          <a:prstGeom prst="line">
            <a:avLst/>
          </a:prstGeom>
          <a:noFill/>
          <a:ln w="8255">
            <a:solidFill>
              <a:srgbClr val="E6E2F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6464808"/>
            <a:ext cx="5029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LeadReacher + Statflo | proposed pilot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85899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LeadReacher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integration deck</dc:title>
  <dc:subject>Benefits of connecting LeadReacher with a CRM</dc:subject>
  <dc:creator>LeadReacher</dc:creator>
  <cp:lastModifiedBy>LeadReacher</cp:lastModifiedBy>
  <cp:revision>1</cp:revision>
  <dcterms:created xsi:type="dcterms:W3CDTF">2026-08-31T23:10:57Z</dcterms:created>
  <dcterms:modified xsi:type="dcterms:W3CDTF">2026-08-31T23:10:57Z</dcterms:modified>
</cp:coreProperties>
</file>